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7" r:id="rId3"/>
    <p:sldId id="258" r:id="rId4"/>
    <p:sldId id="274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FFD39D-C701-3550-2384-9552A1DBC302}"/>
              </a:ext>
            </a:extLst>
          </p:cNvPr>
          <p:cNvSpPr txBox="1"/>
          <p:nvPr/>
        </p:nvSpPr>
        <p:spPr>
          <a:xfrm>
            <a:off x="3240171" y="1143000"/>
            <a:ext cx="5681171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6"/>
                </a:solidFill>
              </a:defRPr>
            </a:pPr>
            <a:r>
              <a:rPr dirty="0"/>
              <a:t>Data Analysis Essentials</a:t>
            </a:r>
          </a:p>
          <a:p>
            <a:pPr algn="ctr">
              <a:defRPr sz="2700" b="1">
                <a:solidFill>
                  <a:srgbClr val="4472C4"/>
                </a:solidFill>
              </a:defRPr>
            </a:pPr>
            <a:r>
              <a:rPr dirty="0"/>
              <a:t>Cornerstone Project — Second Review</a:t>
            </a:r>
          </a:p>
          <a:p>
            <a:pPr algn="ctr">
              <a:defRPr sz="3100" b="1">
                <a:solidFill>
                  <a:srgbClr val="2D2D2D"/>
                </a:solidFill>
              </a:defRPr>
            </a:pPr>
            <a:r>
              <a:rPr lang="en-IN" sz="3100" b="1" dirty="0">
                <a:solidFill>
                  <a:srgbClr val="2D2D2D"/>
                </a:solidFill>
              </a:rPr>
              <a:t>Library Management System</a:t>
            </a:r>
            <a:endParaRPr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0A06547-C2A8-9466-1AFE-139511412429}"/>
              </a:ext>
            </a:extLst>
          </p:cNvPr>
          <p:cNvSpPr/>
          <p:nvPr/>
        </p:nvSpPr>
        <p:spPr>
          <a:xfrm>
            <a:off x="777240" y="3749039"/>
            <a:ext cx="521208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DDCAD-6028-FED7-6DCE-21CF4EFDFE77}"/>
              </a:ext>
            </a:extLst>
          </p:cNvPr>
          <p:cNvSpPr txBox="1"/>
          <p:nvPr/>
        </p:nvSpPr>
        <p:spPr>
          <a:xfrm>
            <a:off x="941832" y="3877055"/>
            <a:ext cx="488289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dirty="0"/>
              <a:t>Presented by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lang="en-US" dirty="0"/>
              <a:t>[B.V.V.SATYANARAYANA-26B21AI014]</a:t>
            </a:r>
            <a:br>
              <a:rPr dirty="0"/>
            </a:br>
            <a:r>
              <a:rPr dirty="0"/>
              <a:t>[</a:t>
            </a:r>
            <a:r>
              <a:rPr lang="en-US" dirty="0"/>
              <a:t>G.D.ESWAR SHANMUKH</a:t>
            </a:r>
            <a:r>
              <a:rPr dirty="0"/>
              <a:t> – </a:t>
            </a:r>
            <a:r>
              <a:rPr lang="en-US" dirty="0"/>
              <a:t>26B21AI034</a:t>
            </a:r>
            <a:r>
              <a:rPr dirty="0"/>
              <a:t>]</a:t>
            </a:r>
            <a:br>
              <a:rPr dirty="0"/>
            </a:br>
            <a:r>
              <a:rPr dirty="0"/>
              <a:t>[</a:t>
            </a:r>
            <a:r>
              <a:rPr lang="en-US" dirty="0"/>
              <a:t>G.SAI CHARAN</a:t>
            </a:r>
            <a:r>
              <a:rPr dirty="0"/>
              <a:t> – </a:t>
            </a:r>
            <a:r>
              <a:rPr lang="en-US" dirty="0"/>
              <a:t>26B21AI043</a:t>
            </a:r>
            <a:r>
              <a:rPr dirty="0"/>
              <a:t>]</a:t>
            </a:r>
            <a:endParaRPr lang="en-US" dirty="0"/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lang="en-IN" dirty="0"/>
              <a:t>[S.T.N.V.GANESH – 26B21AI071]</a:t>
            </a:r>
            <a:endParaRPr dirty="0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D44EBF02-6EFE-5918-CE28-16A5632C0389}"/>
              </a:ext>
            </a:extLst>
          </p:cNvPr>
          <p:cNvSpPr/>
          <p:nvPr/>
        </p:nvSpPr>
        <p:spPr>
          <a:xfrm>
            <a:off x="6263640" y="3749039"/>
            <a:ext cx="493776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FEB97-57D6-DCFF-29CA-51BBE6793F9B}"/>
              </a:ext>
            </a:extLst>
          </p:cNvPr>
          <p:cNvSpPr txBox="1"/>
          <p:nvPr/>
        </p:nvSpPr>
        <p:spPr>
          <a:xfrm>
            <a:off x="6428231" y="3877055"/>
            <a:ext cx="460857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Department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Department of Artificial Intelligence &amp; Machine Learning</a:t>
            </a:r>
          </a:p>
        </p:txBody>
      </p:sp>
      <p:pic>
        <p:nvPicPr>
          <p:cNvPr id="13" name="object 2">
            <a:extLst>
              <a:ext uri="{FF2B5EF4-FFF2-40B4-BE49-F238E27FC236}">
                <a16:creationId xmlns:a16="http://schemas.microsoft.com/office/drawing/2014/main" id="{5AF54A67-035C-E387-1A98-D94ACEEC7C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80" y="270433"/>
            <a:ext cx="4610910" cy="62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5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401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 dirty="0">
                <a:solidFill>
                  <a:srgbClr val="17365D"/>
                </a:solidFill>
                <a:latin typeface="Aptos"/>
              </a:rPr>
              <a:t>SECOND REVIEW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This project emphasizes completed coding work, output, visualizations and meaningful findings.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48463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1.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37944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Google Colab notebook executes successfully and creates the CSV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527048"/>
            <a:ext cx="48463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2. Data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837944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Shape, columns, data types and missing values are checked using Pandas.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035808"/>
            <a:ext cx="48463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3.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346704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NumPy and Pandas statistics identify borrowing, category and fine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92608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3035808"/>
            <a:ext cx="48463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4.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Histogram, bar chart, scatter plot and pie chart are generated.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4544568"/>
            <a:ext cx="48463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5.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855464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Key findings and a simple availability-based recommendation are presented.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PROJECT OVERVIEW — LIBRARY BOOK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project analyzes a small library dataset to understand borrowing demand, book availability and fine amounts.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72768"/>
            <a:ext cx="320040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83664"/>
            <a:ext cx="320040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Library staff need a simple way to inspect book usage, availability and overdue-fine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572768"/>
            <a:ext cx="320040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83664"/>
            <a:ext cx="320040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Create a CSV dataset, perform statistical analysis, visualize patterns and recommend popular available books.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204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572768"/>
            <a:ext cx="320040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83664"/>
            <a:ext cx="320040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Library Management / Educational Data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7180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081528"/>
            <a:ext cx="502920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392424"/>
            <a:ext cx="502920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10 book records and 8 columns: Book_ID, title, category, borrow count, copies, fine and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97180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081528"/>
            <a:ext cx="502920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392424"/>
            <a:ext cx="502920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Python • Google Colab • Pandas • NumPy • Matplotlib •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73168"/>
            <a:ext cx="210312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500" b="1">
                <a:solidFill>
                  <a:srgbClr val="2F75B5"/>
                </a:solidFill>
                <a:latin typeface="Aptos"/>
              </a:rPr>
              <a:t>Core decision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38928"/>
            <a:ext cx="10881360" cy="640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5330952"/>
            <a:ext cx="1033272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600" b="1">
                <a:solidFill>
                  <a:srgbClr val="17365D"/>
                </a:solidFill>
                <a:latin typeface="Aptos"/>
              </a:rPr>
              <a:t>Recommend a book when Borrow_Count ≥ user-defined minimum AND Available_Copies &gt; 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E7CD-BB32-B061-148A-D6A73CDD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B1E79D0C-20AD-F2C8-2444-6A23373631A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CB2F0EA-976D-FE26-DF92-BCEA84793163}"/>
              </a:ext>
            </a:extLst>
          </p:cNvPr>
          <p:cNvSpPr txBox="1"/>
          <p:nvPr/>
        </p:nvSpPr>
        <p:spPr>
          <a:xfrm>
            <a:off x="518651" y="296699"/>
            <a:ext cx="701285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500" b="1" dirty="0">
                <a:solidFill>
                  <a:srgbClr val="17365D"/>
                </a:solidFill>
                <a:latin typeface="Aptos"/>
              </a:rPr>
              <a:t>DATASET SNAPSHOT — LIBRARY RECORDS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57FA46-2656-8EF8-AED2-D86C5D7CFDEE}"/>
              </a:ext>
            </a:extLst>
          </p:cNvPr>
          <p:cNvSpPr txBox="1"/>
          <p:nvPr/>
        </p:nvSpPr>
        <p:spPr>
          <a:xfrm>
            <a:off x="518651" y="775055"/>
            <a:ext cx="73864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555555"/>
                </a:solidFill>
                <a:latin typeface="Aptos"/>
              </a:rPr>
              <a:t>The dataset is created inside the </a:t>
            </a:r>
            <a:r>
              <a:rPr lang="en-US" sz="1100" b="0" dirty="0" err="1">
                <a:solidFill>
                  <a:srgbClr val="555555"/>
                </a:solidFill>
                <a:latin typeface="Aptos"/>
              </a:rPr>
              <a:t>Colab</a:t>
            </a:r>
            <a:r>
              <a:rPr lang="en-US" sz="1100" b="0" dirty="0">
                <a:solidFill>
                  <a:srgbClr val="555555"/>
                </a:solidFill>
                <a:latin typeface="Aptos"/>
              </a:rPr>
              <a:t> notebook, exported as library_data.csv, then read again for analysis.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F496C2-C3E6-5A45-470B-C1732CE858C4}"/>
              </a:ext>
            </a:extLst>
          </p:cNvPr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4A776E30-C3E7-A5F3-D576-19936DB73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714557"/>
              </p:ext>
            </p:extLst>
          </p:nvPr>
        </p:nvGraphicFramePr>
        <p:xfrm>
          <a:off x="889819" y="2199968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59706749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28060104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9071898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55082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US" dirty="0"/>
                        <a:t>69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US" dirty="0"/>
                        <a:t>55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38189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1118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73584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US" dirty="0"/>
                        <a:t>11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46953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Target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434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dirty="0"/>
                        <a:t>180 not approved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211367"/>
                  </a:ext>
                </a:extLst>
              </a:tr>
            </a:tbl>
          </a:graphicData>
        </a:graphic>
      </p:graphicFrame>
      <p:pic>
        <p:nvPicPr>
          <p:cNvPr id="103" name="Picture 102">
            <a:extLst>
              <a:ext uri="{FF2B5EF4-FFF2-40B4-BE49-F238E27FC236}">
                <a16:creationId xmlns:a16="http://schemas.microsoft.com/office/drawing/2014/main" id="{EB198A9B-E97C-3A89-F88C-931FB5EAF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417"/>
          <a:stretch>
            <a:fillRect/>
          </a:stretch>
        </p:blipFill>
        <p:spPr>
          <a:xfrm>
            <a:off x="7531507" y="2311588"/>
            <a:ext cx="3770673" cy="288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8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IMPLEMENTATION — GOOGLE COLAB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notebook uses a clear sequence: create data → save CSV → read CSV → inspect → analyze → visualize → recommend.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438912" cy="438912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53896"/>
            <a:ext cx="438912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89888"/>
            <a:ext cx="192024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Create DataFrame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399032"/>
            <a:ext cx="80010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Dictionary data is converted into a Pandas DataFrame.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29967"/>
            <a:ext cx="438912" cy="438912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1"/>
            <a:ext cx="438912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066543"/>
            <a:ext cx="192024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Save as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75687"/>
            <a:ext cx="80010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df.to_csv("library_data.csv", index=False) stores the dataset.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06624"/>
            <a:ext cx="438912" cy="438912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807208"/>
            <a:ext cx="438912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43200"/>
            <a:ext cx="192024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Read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752344"/>
            <a:ext cx="80010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pd.read_csv() reloads the file for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79"/>
            <a:ext cx="438912" cy="438912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483863"/>
            <a:ext cx="438912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419856"/>
            <a:ext cx="192024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Inspect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428999"/>
            <a:ext cx="80010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shape, columns, dtypes and isnull().sum() verify quality.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59935"/>
            <a:ext cx="438912" cy="438912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160520"/>
            <a:ext cx="438912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96511"/>
            <a:ext cx="192024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105655"/>
            <a:ext cx="80010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NumPy and Pandas calculate statistics and category/status counts.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36592"/>
            <a:ext cx="438912" cy="438912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837176"/>
            <a:ext cx="438912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773168"/>
            <a:ext cx="192024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782312"/>
            <a:ext cx="80010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Matplotlib displays four labelled charts.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13248"/>
            <a:ext cx="438912" cy="438912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513832"/>
            <a:ext cx="438912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449824"/>
            <a:ext cx="192024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Recommend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458968"/>
            <a:ext cx="80010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Filters books using popularity and available-copy conditions.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NUMPY &amp; PANDAS ANALYSIS — 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Borrow count and fine amount are selected as numerical fields for summary statistics.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12.4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Average borrow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41732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58191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8424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Maximum borrow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41732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58191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8424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Minimum borrow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41732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44584" y="158191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11.5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198424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Median borrow 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290779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4.03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31012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Standard deviation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274320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290779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₹19.0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31012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Average fine amount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8504" y="274320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290779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₹60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31012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Maximum fine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2743200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44584" y="2907792"/>
            <a:ext cx="2267712" cy="29260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2F75B5"/>
                </a:solidFill>
                <a:latin typeface="Aptos"/>
              </a:rPr>
              <a:t>7 /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310128"/>
            <a:ext cx="2267712" cy="21945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ptos"/>
              </a:rPr>
              <a:t>Books issued / available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462272"/>
            <a:ext cx="192024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1">
                <a:solidFill>
                  <a:srgbClr val="00A6A6"/>
                </a:solidFill>
                <a:latin typeface="Aptos"/>
              </a:rPr>
              <a:t>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10789920" cy="65836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Borrowing ranges from 7 to 20 times. The average of 12.4 shows moderate overall demand, while the spread indicates that some titles are noticeably more popular than others. Fine amounts range from ₹0 to ₹60.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VISUALIZATION — BORROWING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Histogram groups books by their borrowing counts and makes demand variation easy to see.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orrow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49224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5448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1" y="1664207"/>
            <a:ext cx="329184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1975104"/>
            <a:ext cx="329184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Most books fall between roughly 7 and 15 borrowings; a few titles have higher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06324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9831" y="3172968"/>
            <a:ext cx="329184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3483864"/>
            <a:ext cx="329184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Library staff can identify frequently borrowed titles and plan future purchases.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33272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High-demand examples: Artificial Intelligence (20), Machine Learning (18), and Python Basics (15).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VISUALIZATION — CATEGORY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bar chart counts how many books belong to each category in the library sample.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tego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672084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60020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1" y="1709928"/>
            <a:ext cx="310896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Key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020824"/>
            <a:ext cx="310896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Programming is the largest category with 3 books. AI is next with 2 books.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182112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1" y="3291840"/>
            <a:ext cx="310896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3602736"/>
            <a:ext cx="310896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collection has stronger coverage in Programming and AI, while several other categories have only one book.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VISUALIZATION — BORROW COUNT VS 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scatter plot compares each book’s borrowing demand with its fine amount. Labels show Book_ID.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orrow_fin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53312"/>
            <a:ext cx="630936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24927" y="1627632"/>
            <a:ext cx="37033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19" y="1737360"/>
            <a:ext cx="3383279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2048256"/>
            <a:ext cx="3383279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Artificial Intelligence (Book_ID 108) has the highest borrow count, 20, and the highest fine, ₹60.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4927" y="3072384"/>
            <a:ext cx="37033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9" y="3182112"/>
            <a:ext cx="3383279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3493008"/>
            <a:ext cx="3383279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Machine Learning is also highly borrowed (18) and has a ₹50 fine.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7" y="4517136"/>
            <a:ext cx="37033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19" y="4626864"/>
            <a:ext cx="3383279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4937760"/>
            <a:ext cx="3383279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High fine and high borrowing can indicate heavily used titles that need circulation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VISUALIZATION — BOOK AVAILABILITY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pie chart summarizes the current status field for all 10 books.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tatu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30352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160020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4848" y="1764792"/>
            <a:ext cx="10972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700" b="1">
                <a:solidFill>
                  <a:srgbClr val="2F75B5"/>
                </a:solidFill>
                <a:latin typeface="Aptos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01368"/>
            <a:ext cx="2560320" cy="5486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Issued books</a:t>
            </a:r>
            <a:br/>
            <a:r>
              <a:rPr sz="1300" b="0">
                <a:solidFill>
                  <a:srgbClr val="555555"/>
                </a:solidFill>
                <a:latin typeface="Aptos"/>
              </a:rPr>
              <a:t>7 out of 10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0175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4848" y="3182112"/>
            <a:ext cx="10972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700" b="1">
                <a:solidFill>
                  <a:srgbClr val="00A6A6"/>
                </a:solidFill>
                <a:latin typeface="Aptos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218688"/>
            <a:ext cx="2560320" cy="5486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Available books</a:t>
            </a:r>
            <a:br/>
            <a:r>
              <a:rPr sz="1300" b="0">
                <a:solidFill>
                  <a:srgbClr val="555555"/>
                </a:solidFill>
                <a:latin typeface="Aptos"/>
              </a:rPr>
              <a:t>3 out of 10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36592"/>
            <a:ext cx="4434840" cy="6400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200" b="1">
                <a:solidFill>
                  <a:srgbClr val="17365D"/>
                </a:solidFill>
                <a:latin typeface="Aptos"/>
              </a:rPr>
              <a:t>Important: A title can be marked “Issued” while still having Available_Copies &gt; 0, because some copies may remain on the shelf.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BOOK RECOMMENDATION — IMPROVED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Rather than only testing two user-entered numbers, the improved code filters and displays real books from the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858000" cy="2834640"/>
          </a:xfrm>
          <a:prstGeom prst="roundRect">
            <a:avLst/>
          </a:prstGeom>
          <a:solidFill>
            <a:srgbClr val="1F242D"/>
          </a:solidFill>
          <a:ln>
            <a:solidFill>
              <a:srgbClr val="1F2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664208"/>
            <a:ext cx="6400800" cy="22402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Aptos"/>
              </a:rPr>
              <a:t>minimum_borrow = int(input("Enter minimum Borrow Count: "))</a:t>
            </a:r>
            <a:br/>
            <a:br/>
            <a:r>
              <a:rPr sz="1400" b="0">
                <a:solidFill>
                  <a:srgbClr val="EBF2FA"/>
                </a:solidFill>
                <a:latin typeface="Aptos"/>
              </a:rPr>
              <a:t>recommended_books = df[</a:t>
            </a:r>
            <a:br/>
            <a:r>
              <a:rPr sz="1400" b="0">
                <a:solidFill>
                  <a:srgbClr val="EBF2FA"/>
                </a:solidFill>
                <a:latin typeface="Aptos"/>
              </a:rPr>
              <a:t>    (df["Borrow_Count"] &gt;= minimum_borrow) &amp;</a:t>
            </a:r>
            <a:br/>
            <a:r>
              <a:rPr sz="1400" b="0">
                <a:solidFill>
                  <a:srgbClr val="EBF2FA"/>
                </a:solidFill>
                <a:latin typeface="Aptos"/>
              </a:rPr>
              <a:t>    (df["Available_Copies"] &gt; 0)</a:t>
            </a:r>
            <a:br/>
            <a:r>
              <a:rPr sz="1400" b="0">
                <a:solidFill>
                  <a:srgbClr val="EBF2FA"/>
                </a:solidFill>
                <a:latin typeface="Aptos"/>
              </a:rPr>
              <a:t>]</a:t>
            </a:r>
            <a:br/>
            <a:br/>
            <a:r>
              <a:rPr sz="1400" b="0">
                <a:solidFill>
                  <a:srgbClr val="EBF2FA"/>
                </a:solidFill>
                <a:latin typeface="Aptos"/>
              </a:rPr>
              <a:t>print(recommended_books[["Book_Title", "Borrow_Count",</a:t>
            </a:r>
            <a:br/>
            <a:r>
              <a:rPr sz="1400" b="0">
                <a:solidFill>
                  <a:srgbClr val="EBF2FA"/>
                </a:solidFill>
                <a:latin typeface="Aptos"/>
              </a:rPr>
              <a:t>                           "Available_Copies"]])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444752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4152" y="1554480"/>
            <a:ext cx="30175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1865376"/>
            <a:ext cx="30175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A recommended title must meet the chosen minimum borrow count and have at least one copy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907792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3017520"/>
            <a:ext cx="30175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Example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328416"/>
            <a:ext cx="30175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Minimum Borrow Count = 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370832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4480560"/>
            <a:ext cx="30175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2F75B5"/>
                </a:solidFill>
                <a:latin typeface="Aptos"/>
              </a:rPr>
              <a:t>Expected 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791456"/>
            <a:ext cx="30175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Python Basics; Machine Learning; Artificial Intelligence.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6720840" cy="5029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This makes the final output practical because it names the books that satisfy the condition.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832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RESULTS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project produces completed evidence from data creation through final recommendation.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63040"/>
            <a:ext cx="4846320" cy="27084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lang="en-US" sz="1400" b="1" dirty="0">
                <a:solidFill>
                  <a:srgbClr val="2F75B5"/>
                </a:solidFill>
                <a:latin typeface="Aptos"/>
              </a:rPr>
              <a:t>Most Borrowed Book</a:t>
            </a:r>
            <a:endParaRPr sz="1400" b="1" dirty="0">
              <a:solidFill>
                <a:srgbClr val="2F75B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1773936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Artificial Intelligence is the most borrowed title with 20 borrowings.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53312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463040"/>
            <a:ext cx="4846320" cy="27084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lang="en-US" sz="1400" b="1" dirty="0">
                <a:solidFill>
                  <a:srgbClr val="2F75B5"/>
                </a:solidFill>
                <a:latin typeface="Aptos"/>
              </a:rPr>
              <a:t>Largest Book Category</a:t>
            </a:r>
            <a:endParaRPr sz="1400" b="1" dirty="0">
              <a:solidFill>
                <a:srgbClr val="2F75B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28231" y="1773936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 dirty="0">
                <a:solidFill>
                  <a:srgbClr val="555555"/>
                </a:solidFill>
                <a:latin typeface="Aptos"/>
              </a:rPr>
              <a:t>Programming has the largest category count: </a:t>
            </a:r>
            <a:r>
              <a:rPr lang="en-IN" sz="1100" b="0" dirty="0">
                <a:solidFill>
                  <a:srgbClr val="555555"/>
                </a:solidFill>
                <a:latin typeface="Aptos"/>
              </a:rPr>
              <a:t>3</a:t>
            </a:r>
            <a:r>
              <a:rPr sz="1100" b="0" dirty="0">
                <a:solidFill>
                  <a:srgbClr val="555555"/>
                </a:solidFill>
                <a:latin typeface="Aptos"/>
              </a:rPr>
              <a:t> books.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33472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743200"/>
            <a:ext cx="4846320" cy="27084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lang="en-US" sz="1400" b="1" dirty="0">
                <a:solidFill>
                  <a:srgbClr val="2F75B5"/>
                </a:solidFill>
                <a:latin typeface="Aptos"/>
              </a:rPr>
              <a:t>Book Availability</a:t>
            </a:r>
            <a:endParaRPr sz="1400" b="1" dirty="0">
              <a:solidFill>
                <a:srgbClr val="2F75B5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0392" y="3054096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7 records are marked Issued and 3 are marked 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33472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2743200"/>
            <a:ext cx="4846320" cy="27084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lang="en-US" sz="1400" b="1" dirty="0">
                <a:solidFill>
                  <a:srgbClr val="2F75B5"/>
                </a:solidFill>
                <a:latin typeface="Aptos"/>
              </a:rPr>
              <a:t>Fine Analysis</a:t>
            </a:r>
            <a:endParaRPr sz="1400" b="1" dirty="0">
              <a:solidFill>
                <a:srgbClr val="2F75B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8231" y="3054096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Fine amounts range from ₹0 to ₹60; the mean fine is ₹19.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13631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023359"/>
            <a:ext cx="4846320" cy="270843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lang="en-US" sz="1400" b="1" dirty="0">
                <a:solidFill>
                  <a:srgbClr val="2F75B5"/>
                </a:solidFill>
                <a:latin typeface="Aptos"/>
              </a:rPr>
              <a:t>Recommendations</a:t>
            </a:r>
            <a:endParaRPr sz="1400" b="1" dirty="0">
              <a:solidFill>
                <a:srgbClr val="2F75B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" y="4334255"/>
            <a:ext cx="4846320" cy="53035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Popular titles can be automatically filtered using Borrow_Count and Available_Copies.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58384"/>
            <a:ext cx="118872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1">
                <a:solidFill>
                  <a:srgbClr val="00A6A6"/>
                </a:solidFill>
                <a:latin typeface="Aptos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367528"/>
            <a:ext cx="923544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A beginner-friendly library analytics workflow that combines data storage, statistical analysis, visualization and a basic recommendation feature.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832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COMPLETED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Every stage has proof in Google Colab: code cells, printed output, a CSV file or a visualization.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508760" cy="777240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1362456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Dataset</a:t>
            </a:r>
            <a:br/>
            <a:r>
              <a:rPr sz="1300" b="1">
                <a:solidFill>
                  <a:srgbClr val="FFFFFF"/>
                </a:solidFill>
                <a:latin typeface="Aptos"/>
              </a:rPr>
              <a:t>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3976" y="2084831"/>
            <a:ext cx="27432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17365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874519"/>
            <a:ext cx="1508760" cy="77724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42032" y="2057400"/>
            <a:ext cx="1362456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CSV</a:t>
            </a:r>
            <a:br/>
            <a:r>
              <a:rPr sz="13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4216" y="2084831"/>
            <a:ext cx="27432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17365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1508760" cy="777240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2057400"/>
            <a:ext cx="1362456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rPr sz="1300" b="1">
                <a:solidFill>
                  <a:srgbClr val="FFFFFF"/>
                </a:solidFill>
                <a:latin typeface="Aptos"/>
              </a:rPr>
              <a:t>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6" y="2084831"/>
            <a:ext cx="27432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17365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74519"/>
            <a:ext cx="1508760" cy="77724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057400"/>
            <a:ext cx="1362456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NumPy / Pandas</a:t>
            </a:r>
            <a:br/>
            <a:r>
              <a:rPr sz="1300" b="1">
                <a:solidFill>
                  <a:srgbClr val="FFFFFF"/>
                </a:solidFill>
                <a:latin typeface="Aptos"/>
              </a:rP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2084831"/>
            <a:ext cx="27432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17365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1508760" cy="777240"/>
          </a:xfrm>
          <a:prstGeom prst="round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057400"/>
            <a:ext cx="1362456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Charts &amp;</a:t>
            </a:r>
            <a:br/>
            <a:r>
              <a:rPr sz="1300" b="1">
                <a:solidFill>
                  <a:srgbClr val="FFFFFF"/>
                </a:solidFill>
                <a:latin typeface="Aptos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4936" y="2084831"/>
            <a:ext cx="27432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2200" b="1">
                <a:solidFill>
                  <a:srgbClr val="17365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874519"/>
            <a:ext cx="1508760" cy="77724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22992" y="2057400"/>
            <a:ext cx="1362456" cy="310896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Recommendation</a:t>
            </a:r>
            <a:br/>
            <a:r>
              <a:rPr sz="13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794760"/>
            <a:ext cx="3264408" cy="301621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1" dirty="0">
                <a:solidFill>
                  <a:srgbClr val="2F75B5"/>
                </a:solidFill>
                <a:latin typeface="Aptos"/>
              </a:rPr>
              <a:t>Evidence demonstrated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24528"/>
            <a:ext cx="987552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• DataFrame and CSV creation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81144"/>
            <a:ext cx="987552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• Dataset information and null-value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37760"/>
            <a:ext cx="987552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• Statistical output using NumPy and Pandas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94376"/>
            <a:ext cx="987552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• Four labelled visualizations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50992"/>
            <a:ext cx="9875520" cy="246888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tos"/>
              </a:rPr>
              <a:t>• Recommendation filtering based on conditions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CONCLUSION — SECOND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3816"/>
            <a:ext cx="10972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The Library Book Borrowing Analysis and Recommendation System demonstrates a complete mini data-analysis project in Google Colab.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34747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0">
                <a:solidFill>
                  <a:srgbClr val="17365D"/>
                </a:solidFill>
                <a:latin typeface="Aptos"/>
              </a:rPr>
              <a:t>• A structured dataset of 10 library books was created and saved as a CSV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12264"/>
            <a:ext cx="10424160" cy="34747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0">
                <a:solidFill>
                  <a:srgbClr val="17365D"/>
                </a:solidFill>
                <a:latin typeface="Aptos"/>
              </a:rPr>
              <a:t>• Pandas inspection confirmed 8 columns and no missing values in the sample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10424160" cy="34747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0">
                <a:solidFill>
                  <a:srgbClr val="17365D"/>
                </a:solidFill>
                <a:latin typeface="Aptos"/>
              </a:rPr>
              <a:t>• NumPy and Pandas produced useful borrowing and fine statistics.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19272"/>
            <a:ext cx="10424160" cy="34747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0">
                <a:solidFill>
                  <a:srgbClr val="17365D"/>
                </a:solidFill>
                <a:latin typeface="Aptos"/>
              </a:rPr>
              <a:t>• Four visualizations explained demand, category coverage, fine patterns and status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22776"/>
            <a:ext cx="10424160" cy="34747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l"/>
            <a:r>
              <a:rPr sz="1600" b="0">
                <a:solidFill>
                  <a:srgbClr val="17365D"/>
                </a:solidFill>
                <a:latin typeface="Aptos"/>
              </a:rPr>
              <a:t>• The improved recommendation logic identifies popular books that still have available copies.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10652760" cy="68580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5239512"/>
            <a:ext cx="10287000" cy="256032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500" b="1">
                <a:solidFill>
                  <a:srgbClr val="2F75B5"/>
                </a:solidFill>
                <a:latin typeface="Aptos"/>
              </a:rPr>
              <a:t>Review-2 Focus: Demonstrate completed code, meaningful outputs, visual interpretation and project learning.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789920" cy="5943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3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2"/>
            <a:ext cx="1078992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900" b="0">
                <a:solidFill>
                  <a:srgbClr val="D2E6F5"/>
                </a:solidFill>
                <a:latin typeface="Aptos"/>
              </a:rPr>
              <a:t>Questions &amp; Viva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49240"/>
            <a:ext cx="1078992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ctr"/>
            <a:r>
              <a:rPr sz="1400" b="0">
                <a:solidFill>
                  <a:srgbClr val="D2E6F5"/>
                </a:solidFill>
                <a:latin typeface="Aptos"/>
              </a:rPr>
              <a:t>Library Book Borrowing Analysis and Recommendation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1319</Words>
  <Application>Microsoft Office PowerPoint</Application>
  <PresentationFormat>Widescreen</PresentationFormat>
  <Paragraphs>192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Bobby</dc:creator>
  <cp:keywords/>
  <dc:description>generated using python-pptx</dc:description>
  <cp:lastModifiedBy>Bobby Bolisetti</cp:lastModifiedBy>
  <cp:revision>3</cp:revision>
  <dcterms:created xsi:type="dcterms:W3CDTF">2013-01-27T09:14:16Z</dcterms:created>
  <dcterms:modified xsi:type="dcterms:W3CDTF">2026-10-05T04:46:31Z</dcterms:modified>
  <cp:category/>
</cp:coreProperties>
</file>
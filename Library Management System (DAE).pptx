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9"/>
  </p:notesMasterIdLst>
  <p:sldIdLst>
    <p:sldId id="288" r:id="rId2"/>
    <p:sldId id="289" r:id="rId3"/>
    <p:sldId id="290" r:id="rId4"/>
    <p:sldId id="291" r:id="rId5"/>
    <p:sldId id="292" r:id="rId6"/>
    <p:sldId id="293" r:id="rId7"/>
    <p:sldId id="294" r:id="rId8"/>
    <p:sldId id="295" r:id="rId9"/>
    <p:sldId id="296" r:id="rId10"/>
    <p:sldId id="297" r:id="rId11"/>
    <p:sldId id="256" r:id="rId12"/>
    <p:sldId id="257" r:id="rId13"/>
    <p:sldId id="258" r:id="rId14"/>
    <p:sldId id="259" r:id="rId15"/>
    <p:sldId id="274" r:id="rId16"/>
    <p:sldId id="279" r:id="rId17"/>
    <p:sldId id="276" r:id="rId18"/>
    <p:sldId id="283" r:id="rId19"/>
    <p:sldId id="280" r:id="rId20"/>
    <p:sldId id="278" r:id="rId21"/>
    <p:sldId id="271" r:id="rId22"/>
    <p:sldId id="281" r:id="rId23"/>
    <p:sldId id="284" r:id="rId24"/>
    <p:sldId id="286" r:id="rId25"/>
    <p:sldId id="282" r:id="rId26"/>
    <p:sldId id="268" r:id="rId27"/>
    <p:sldId id="269" r:id="rId28"/>
  </p:sldIdLst>
  <p:sldSz cx="10058400" cy="7772400"/>
  <p:notesSz cx="10058400" cy="77724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2F1DF84-DBEB-4FCD-A7B4-CB852B75029D}" v="10" dt="2026-10-29T13:01:10.503"/>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244" autoAdjust="0"/>
    <p:restoredTop sz="94660"/>
  </p:normalViewPr>
  <p:slideViewPr>
    <p:cSldViewPr>
      <p:cViewPr varScale="1">
        <p:scale>
          <a:sx n="69" d="100"/>
          <a:sy n="69" d="100"/>
        </p:scale>
        <p:origin x="1954" y="67"/>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35" Type="http://schemas.microsoft.com/office/2015/10/relationships/revisionInfo" Target="revisionInfo.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obby Bolisetti" userId="c690cdc5ff031608" providerId="LiveId" clId="{C9AAEE7D-D7D3-47BE-BEDA-25FA613F6333}"/>
    <pc:docChg chg="undo custSel addSld delSld modSld">
      <pc:chgData name="Bobby Bolisetti" userId="c690cdc5ff031608" providerId="LiveId" clId="{C9AAEE7D-D7D3-47BE-BEDA-25FA613F6333}" dt="2026-10-29T13:01:17.666" v="76" actId="2696"/>
      <pc:docMkLst>
        <pc:docMk/>
      </pc:docMkLst>
      <pc:sldChg chg="add del">
        <pc:chgData name="Bobby Bolisetti" userId="c690cdc5ff031608" providerId="LiveId" clId="{C9AAEE7D-D7D3-47BE-BEDA-25FA613F6333}" dt="2026-10-29T13:01:17.666" v="76" actId="2696"/>
        <pc:sldMkLst>
          <pc:docMk/>
          <pc:sldMk cId="1815242804" sldId="287"/>
        </pc:sldMkLst>
      </pc:sldChg>
      <pc:sldChg chg="add">
        <pc:chgData name="Bobby Bolisetti" userId="c690cdc5ff031608" providerId="LiveId" clId="{C9AAEE7D-D7D3-47BE-BEDA-25FA613F6333}" dt="2026-10-29T13:01:04.487" v="66"/>
        <pc:sldMkLst>
          <pc:docMk/>
          <pc:sldMk cId="1761059829" sldId="288"/>
        </pc:sldMkLst>
      </pc:sldChg>
      <pc:sldChg chg="add">
        <pc:chgData name="Bobby Bolisetti" userId="c690cdc5ff031608" providerId="LiveId" clId="{C9AAEE7D-D7D3-47BE-BEDA-25FA613F6333}" dt="2026-10-29T13:01:04.820" v="67"/>
        <pc:sldMkLst>
          <pc:docMk/>
          <pc:sldMk cId="2301699329" sldId="289"/>
        </pc:sldMkLst>
      </pc:sldChg>
      <pc:sldChg chg="add">
        <pc:chgData name="Bobby Bolisetti" userId="c690cdc5ff031608" providerId="LiveId" clId="{C9AAEE7D-D7D3-47BE-BEDA-25FA613F6333}" dt="2026-10-29T13:01:05.674" v="68"/>
        <pc:sldMkLst>
          <pc:docMk/>
          <pc:sldMk cId="2662382934" sldId="290"/>
        </pc:sldMkLst>
      </pc:sldChg>
      <pc:sldChg chg="add">
        <pc:chgData name="Bobby Bolisetti" userId="c690cdc5ff031608" providerId="LiveId" clId="{C9AAEE7D-D7D3-47BE-BEDA-25FA613F6333}" dt="2026-10-29T13:01:06.053" v="69"/>
        <pc:sldMkLst>
          <pc:docMk/>
          <pc:sldMk cId="1251716083" sldId="291"/>
        </pc:sldMkLst>
      </pc:sldChg>
      <pc:sldChg chg="add">
        <pc:chgData name="Bobby Bolisetti" userId="c690cdc5ff031608" providerId="LiveId" clId="{C9AAEE7D-D7D3-47BE-BEDA-25FA613F6333}" dt="2026-10-29T13:01:06.316" v="70"/>
        <pc:sldMkLst>
          <pc:docMk/>
          <pc:sldMk cId="3559644448" sldId="292"/>
        </pc:sldMkLst>
      </pc:sldChg>
      <pc:sldChg chg="add">
        <pc:chgData name="Bobby Bolisetti" userId="c690cdc5ff031608" providerId="LiveId" clId="{C9AAEE7D-D7D3-47BE-BEDA-25FA613F6333}" dt="2026-10-29T13:01:06.580" v="71"/>
        <pc:sldMkLst>
          <pc:docMk/>
          <pc:sldMk cId="568853450" sldId="293"/>
        </pc:sldMkLst>
      </pc:sldChg>
      <pc:sldChg chg="add">
        <pc:chgData name="Bobby Bolisetti" userId="c690cdc5ff031608" providerId="LiveId" clId="{C9AAEE7D-D7D3-47BE-BEDA-25FA613F6333}" dt="2026-10-29T13:01:06.824" v="72"/>
        <pc:sldMkLst>
          <pc:docMk/>
          <pc:sldMk cId="3031474142" sldId="294"/>
        </pc:sldMkLst>
      </pc:sldChg>
      <pc:sldChg chg="add">
        <pc:chgData name="Bobby Bolisetti" userId="c690cdc5ff031608" providerId="LiveId" clId="{C9AAEE7D-D7D3-47BE-BEDA-25FA613F6333}" dt="2026-10-29T13:01:07.883" v="73"/>
        <pc:sldMkLst>
          <pc:docMk/>
          <pc:sldMk cId="946940069" sldId="295"/>
        </pc:sldMkLst>
      </pc:sldChg>
      <pc:sldChg chg="add">
        <pc:chgData name="Bobby Bolisetti" userId="c690cdc5ff031608" providerId="LiveId" clId="{C9AAEE7D-D7D3-47BE-BEDA-25FA613F6333}" dt="2026-10-29T13:01:08.228" v="74"/>
        <pc:sldMkLst>
          <pc:docMk/>
          <pc:sldMk cId="3430721470" sldId="296"/>
        </pc:sldMkLst>
      </pc:sldChg>
      <pc:sldChg chg="add">
        <pc:chgData name="Bobby Bolisetti" userId="c690cdc5ff031608" providerId="LiveId" clId="{C9AAEE7D-D7D3-47BE-BEDA-25FA613F6333}" dt="2026-10-29T13:01:10.497" v="75"/>
        <pc:sldMkLst>
          <pc:docMk/>
          <pc:sldMk cId="3377248368" sldId="29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359275" cy="38893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5697538" y="0"/>
            <a:ext cx="4359275" cy="388938"/>
          </a:xfrm>
          <a:prstGeom prst="rect">
            <a:avLst/>
          </a:prstGeom>
        </p:spPr>
        <p:txBody>
          <a:bodyPr vert="horz" lIns="91440" tIns="45720" rIns="91440" bIns="45720" rtlCol="0"/>
          <a:lstStyle>
            <a:lvl1pPr algn="r">
              <a:defRPr sz="1200"/>
            </a:lvl1pPr>
          </a:lstStyle>
          <a:p>
            <a:fld id="{0B419B0A-DB98-47ED-A0D2-B47FD394FE07}" type="datetimeFigureOut">
              <a:rPr lang="en-IN" smtClean="0"/>
              <a:t>29-10-2026</a:t>
            </a:fld>
            <a:endParaRPr lang="en-IN"/>
          </a:p>
        </p:txBody>
      </p:sp>
      <p:sp>
        <p:nvSpPr>
          <p:cNvPr id="4" name="Slide Image Placeholder 3"/>
          <p:cNvSpPr>
            <a:spLocks noGrp="1" noRot="1" noChangeAspect="1"/>
          </p:cNvSpPr>
          <p:nvPr>
            <p:ph type="sldImg" idx="2"/>
          </p:nvPr>
        </p:nvSpPr>
        <p:spPr>
          <a:xfrm>
            <a:off x="3332163" y="971550"/>
            <a:ext cx="3394075" cy="262255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006475" y="3740150"/>
            <a:ext cx="8045450" cy="306070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7383463"/>
            <a:ext cx="4359275" cy="38893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5697538" y="7383463"/>
            <a:ext cx="4359275" cy="388937"/>
          </a:xfrm>
          <a:prstGeom prst="rect">
            <a:avLst/>
          </a:prstGeom>
        </p:spPr>
        <p:txBody>
          <a:bodyPr vert="horz" lIns="91440" tIns="45720" rIns="91440" bIns="45720" rtlCol="0" anchor="b"/>
          <a:lstStyle>
            <a:lvl1pPr algn="r">
              <a:defRPr sz="1200"/>
            </a:lvl1pPr>
          </a:lstStyle>
          <a:p>
            <a:fld id="{67E471F2-2083-493A-8C9E-53209FFA1EC8}" type="slidenum">
              <a:rPr lang="en-IN" smtClean="0"/>
              <a:t>‹#›</a:t>
            </a:fld>
            <a:endParaRPr lang="en-IN"/>
          </a:p>
        </p:txBody>
      </p:sp>
    </p:spTree>
    <p:extLst>
      <p:ext uri="{BB962C8B-B14F-4D97-AF65-F5344CB8AC3E}">
        <p14:creationId xmlns:p14="http://schemas.microsoft.com/office/powerpoint/2010/main" val="4468130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67E471F2-2083-493A-8C9E-53209FFA1EC8}" type="slidenum">
              <a:rPr lang="en-IN" smtClean="0"/>
              <a:t>21</a:t>
            </a:fld>
            <a:endParaRPr lang="en-IN"/>
          </a:p>
        </p:txBody>
      </p:sp>
    </p:spTree>
    <p:extLst>
      <p:ext uri="{BB962C8B-B14F-4D97-AF65-F5344CB8AC3E}">
        <p14:creationId xmlns:p14="http://schemas.microsoft.com/office/powerpoint/2010/main" val="20061069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71E0C1-6277-CAD3-8A7C-7F0F37C61C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3776A0-3BEE-1FDC-EADA-6B6FA1E1A03A}"/>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EE753676-942B-2284-A56F-CCE051D8DD0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EA68B2BB-B290-5A6F-7542-202146F1BA1C}"/>
              </a:ext>
            </a:extLst>
          </p:cNvPr>
          <p:cNvSpPr>
            <a:spLocks noGrp="1"/>
          </p:cNvSpPr>
          <p:nvPr>
            <p:ph type="sldNum" sz="quarter" idx="10"/>
          </p:nvPr>
        </p:nvSpPr>
        <p:spPr/>
        <p:txBody>
          <a:bodyPr/>
          <a:lstStyle/>
          <a:p>
            <a:fld id="{67E471F2-2083-493A-8C9E-53209FFA1EC8}" type="slidenum">
              <a:rPr lang="en-IN" smtClean="0"/>
              <a:t>22</a:t>
            </a:fld>
            <a:endParaRPr lang="en-IN"/>
          </a:p>
        </p:txBody>
      </p:sp>
    </p:spTree>
    <p:extLst>
      <p:ext uri="{BB962C8B-B14F-4D97-AF65-F5344CB8AC3E}">
        <p14:creationId xmlns:p14="http://schemas.microsoft.com/office/powerpoint/2010/main" val="15275766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E75593-B60C-075A-B199-E14754975E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512608-EC6F-C34D-5A4F-97832722DBA8}"/>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AA61614D-490A-1F93-E8F9-6650039E0B09}"/>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19F3366E-5B94-A535-E03B-8EDD425136BE}"/>
              </a:ext>
            </a:extLst>
          </p:cNvPr>
          <p:cNvSpPr>
            <a:spLocks noGrp="1"/>
          </p:cNvSpPr>
          <p:nvPr>
            <p:ph type="sldNum" sz="quarter" idx="10"/>
          </p:nvPr>
        </p:nvSpPr>
        <p:spPr/>
        <p:txBody>
          <a:bodyPr/>
          <a:lstStyle/>
          <a:p>
            <a:fld id="{67E471F2-2083-493A-8C9E-53209FFA1EC8}" type="slidenum">
              <a:rPr lang="en-IN" smtClean="0"/>
              <a:t>23</a:t>
            </a:fld>
            <a:endParaRPr lang="en-IN"/>
          </a:p>
        </p:txBody>
      </p:sp>
    </p:spTree>
    <p:extLst>
      <p:ext uri="{BB962C8B-B14F-4D97-AF65-F5344CB8AC3E}">
        <p14:creationId xmlns:p14="http://schemas.microsoft.com/office/powerpoint/2010/main" val="18018668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754380" y="2409444"/>
            <a:ext cx="8549640" cy="1632204"/>
          </a:xfrm>
          <a:prstGeom prst="rect">
            <a:avLst/>
          </a:prstGeom>
        </p:spPr>
        <p:txBody>
          <a:bodyPr wrap="square" lIns="0" tIns="0" rIns="0" bIns="0">
            <a:spAutoFit/>
          </a:bodyPr>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subTitle" idx="4"/>
          </p:nvPr>
        </p:nvSpPr>
        <p:spPr>
          <a:xfrm>
            <a:off x="1508760" y="4352544"/>
            <a:ext cx="7040880" cy="1943100"/>
          </a:xfrm>
          <a:prstGeom prst="rect">
            <a:avLst/>
          </a:prstGeom>
        </p:spPr>
        <p:txBody>
          <a:bodyPr wrap="square" lIns="0" tIns="0" rIns="0" bIns="0">
            <a:spAutoFit/>
          </a:bodyPr>
          <a:lstStyle>
            <a:lvl1pPr>
              <a:defRPr sz="1950" b="1" i="0">
                <a:solidFill>
                  <a:schemeClr val="tx1"/>
                </a:solidFill>
                <a:latin typeface="Palatino Linotype"/>
                <a:cs typeface="Palatino Linotype"/>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10/29/2026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body" idx="1"/>
          </p:nvPr>
        </p:nvSpPr>
        <p:spPr/>
        <p:txBody>
          <a:bodyPr lIns="0" tIns="0" rIns="0" bIns="0"/>
          <a:lstStyle>
            <a:lvl1pPr>
              <a:defRPr sz="1950" b="1" i="0">
                <a:solidFill>
                  <a:schemeClr val="tx1"/>
                </a:solidFill>
                <a:latin typeface="Palatino Linotype"/>
                <a:cs typeface="Palatino Linotype"/>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10/29/2026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sz="half" idx="2"/>
          </p:nvPr>
        </p:nvSpPr>
        <p:spPr>
          <a:xfrm>
            <a:off x="502920" y="1787652"/>
            <a:ext cx="4375404" cy="5129784"/>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5180076" y="1787652"/>
            <a:ext cx="4375404" cy="5129784"/>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10/29/2026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10/29/2026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2648056" y="258722"/>
            <a:ext cx="4601366" cy="704793"/>
          </a:xfrm>
          <a:prstGeom prst="rect">
            <a:avLst/>
          </a:prstGeom>
        </p:spPr>
      </p:pic>
      <p:pic>
        <p:nvPicPr>
          <p:cNvPr id="17" name="bg object 17"/>
          <p:cNvPicPr/>
          <p:nvPr/>
        </p:nvPicPr>
        <p:blipFill>
          <a:blip r:embed="rId3" cstate="print"/>
          <a:stretch>
            <a:fillRect/>
          </a:stretch>
        </p:blipFill>
        <p:spPr>
          <a:xfrm>
            <a:off x="2530316" y="125730"/>
            <a:ext cx="4997767" cy="1045130"/>
          </a:xfrm>
          <a:prstGeom prst="rect">
            <a:avLst/>
          </a:prstGeom>
        </p:spPr>
      </p:pic>
      <p:pic>
        <p:nvPicPr>
          <p:cNvPr id="18" name="bg object 18"/>
          <p:cNvPicPr/>
          <p:nvPr/>
        </p:nvPicPr>
        <p:blipFill>
          <a:blip r:embed="rId4" cstate="print"/>
          <a:stretch>
            <a:fillRect/>
          </a:stretch>
        </p:blipFill>
        <p:spPr>
          <a:xfrm>
            <a:off x="2663904" y="251407"/>
            <a:ext cx="4577410" cy="506849"/>
          </a:xfrm>
          <a:prstGeom prst="rect">
            <a:avLst/>
          </a:prstGeom>
        </p:spPr>
      </p:pic>
      <p:sp>
        <p:nvSpPr>
          <p:cNvPr id="19" name="bg object 19"/>
          <p:cNvSpPr/>
          <p:nvPr/>
        </p:nvSpPr>
        <p:spPr>
          <a:xfrm>
            <a:off x="2718911" y="290750"/>
            <a:ext cx="4471670" cy="400685"/>
          </a:xfrm>
          <a:custGeom>
            <a:avLst/>
            <a:gdLst/>
            <a:ahLst/>
            <a:cxnLst/>
            <a:rect l="l" t="t" r="r" b="b"/>
            <a:pathLst>
              <a:path w="4471670" h="400684">
                <a:moveTo>
                  <a:pt x="4386510" y="0"/>
                </a:moveTo>
                <a:lnTo>
                  <a:pt x="84762" y="0"/>
                </a:lnTo>
                <a:lnTo>
                  <a:pt x="51758" y="5238"/>
                </a:lnTo>
                <a:lnTo>
                  <a:pt x="24831" y="19592"/>
                </a:lnTo>
                <a:lnTo>
                  <a:pt x="6705" y="40757"/>
                </a:lnTo>
                <a:lnTo>
                  <a:pt x="0" y="66741"/>
                </a:lnTo>
                <a:lnTo>
                  <a:pt x="0" y="333813"/>
                </a:lnTo>
                <a:lnTo>
                  <a:pt x="6705" y="359797"/>
                </a:lnTo>
                <a:lnTo>
                  <a:pt x="24831" y="381066"/>
                </a:lnTo>
                <a:lnTo>
                  <a:pt x="51758" y="395316"/>
                </a:lnTo>
                <a:lnTo>
                  <a:pt x="84762" y="400554"/>
                </a:lnTo>
                <a:lnTo>
                  <a:pt x="4386510" y="400554"/>
                </a:lnTo>
                <a:lnTo>
                  <a:pt x="4419514" y="395316"/>
                </a:lnTo>
                <a:lnTo>
                  <a:pt x="4446441" y="381066"/>
                </a:lnTo>
                <a:lnTo>
                  <a:pt x="4464567" y="359797"/>
                </a:lnTo>
                <a:lnTo>
                  <a:pt x="4471273" y="333813"/>
                </a:lnTo>
                <a:lnTo>
                  <a:pt x="4471273" y="66741"/>
                </a:lnTo>
                <a:lnTo>
                  <a:pt x="4464567" y="40757"/>
                </a:lnTo>
                <a:lnTo>
                  <a:pt x="4446441" y="19592"/>
                </a:lnTo>
                <a:lnTo>
                  <a:pt x="4419514" y="5238"/>
                </a:lnTo>
                <a:lnTo>
                  <a:pt x="4386510" y="0"/>
                </a:lnTo>
                <a:close/>
              </a:path>
            </a:pathLst>
          </a:custGeom>
          <a:solidFill>
            <a:srgbClr val="FF6600"/>
          </a:solidFill>
        </p:spPr>
        <p:txBody>
          <a:bodyPr wrap="square" lIns="0" tIns="0" rIns="0" bIns="0" rtlCol="0"/>
          <a:lstStyle/>
          <a:p>
            <a:endParaRPr/>
          </a:p>
        </p:txBody>
      </p:sp>
      <p:pic>
        <p:nvPicPr>
          <p:cNvPr id="20" name="bg object 20"/>
          <p:cNvPicPr/>
          <p:nvPr/>
        </p:nvPicPr>
        <p:blipFill>
          <a:blip r:embed="rId5" cstate="print"/>
          <a:stretch>
            <a:fillRect/>
          </a:stretch>
        </p:blipFill>
        <p:spPr>
          <a:xfrm>
            <a:off x="3292554" y="282840"/>
            <a:ext cx="3375117" cy="569714"/>
          </a:xfrm>
          <a:prstGeom prst="rect">
            <a:avLst/>
          </a:prstGeom>
        </p:spPr>
      </p:pic>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10/29/2026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830970" y="881554"/>
            <a:ext cx="2528570" cy="375284"/>
          </a:xfrm>
          <a:prstGeom prst="rect">
            <a:avLst/>
          </a:prstGeom>
        </p:spPr>
        <p:txBody>
          <a:bodyPr wrap="square" lIns="0" tIns="0" rIns="0" bIns="0">
            <a:spAutoFit/>
          </a:bodyPr>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body" idx="1"/>
          </p:nvPr>
        </p:nvSpPr>
        <p:spPr>
          <a:xfrm>
            <a:off x="621188" y="1409149"/>
            <a:ext cx="8949055" cy="3294379"/>
          </a:xfrm>
          <a:prstGeom prst="rect">
            <a:avLst/>
          </a:prstGeom>
        </p:spPr>
        <p:txBody>
          <a:bodyPr wrap="square" lIns="0" tIns="0" rIns="0" bIns="0">
            <a:spAutoFit/>
          </a:bodyPr>
          <a:lstStyle>
            <a:lvl1pPr>
              <a:defRPr sz="1950" b="1" i="0">
                <a:solidFill>
                  <a:schemeClr val="tx1"/>
                </a:solidFill>
                <a:latin typeface="Palatino Linotype"/>
                <a:cs typeface="Palatino Linotype"/>
              </a:defRPr>
            </a:lvl1pPr>
          </a:lstStyle>
          <a:p>
            <a:endParaRPr/>
          </a:p>
        </p:txBody>
      </p:sp>
      <p:sp>
        <p:nvSpPr>
          <p:cNvPr id="4" name="Holder 4"/>
          <p:cNvSpPr>
            <a:spLocks noGrp="1"/>
          </p:cNvSpPr>
          <p:nvPr>
            <p:ph type="ftr" sz="quarter" idx="5"/>
          </p:nvPr>
        </p:nvSpPr>
        <p:spPr>
          <a:xfrm>
            <a:off x="3419856" y="7228332"/>
            <a:ext cx="3218688" cy="38862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502920" y="7228332"/>
            <a:ext cx="2313432" cy="38862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10/29/2026</a:t>
            </a:fld>
            <a:endParaRPr lang="en-US"/>
          </a:p>
        </p:txBody>
      </p:sp>
      <p:sp>
        <p:nvSpPr>
          <p:cNvPr id="6" name="Holder 6"/>
          <p:cNvSpPr>
            <a:spLocks noGrp="1"/>
          </p:cNvSpPr>
          <p:nvPr>
            <p:ph type="sldNum" sz="quarter" idx="7"/>
          </p:nvPr>
        </p:nvSpPr>
        <p:spPr>
          <a:xfrm>
            <a:off x="7242048" y="7228332"/>
            <a:ext cx="2313432" cy="38862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7.jp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7.jp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7.jp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7.jp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7.jp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7.jp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7.jp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7.jp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7.jp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7.jp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jpg"/><Relationship Id="rId1" Type="http://schemas.openxmlformats.org/officeDocument/2006/relationships/slideLayout" Target="../slideLayouts/slideLayout5.xml"/><Relationship Id="rId5" Type="http://schemas.openxmlformats.org/officeDocument/2006/relationships/image" Target="../media/image6.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7.jpg"/><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7.jpg"/><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7.jpg"/><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7.jpg"/><Relationship Id="rId4" Type="http://schemas.openxmlformats.org/officeDocument/2006/relationships/image" Target="../media/image6.png"/></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7.jpg"/><Relationship Id="rId5" Type="http://schemas.openxmlformats.org/officeDocument/2006/relationships/image" Target="../media/image6.png"/><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7.jpg"/><Relationship Id="rId5" Type="http://schemas.openxmlformats.org/officeDocument/2006/relationships/image" Target="../media/image6.png"/><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7.jpg"/><Relationship Id="rId5" Type="http://schemas.openxmlformats.org/officeDocument/2006/relationships/image" Target="../media/image6.png"/><Relationship Id="rId4" Type="http://schemas.openxmlformats.org/officeDocument/2006/relationships/image" Target="../media/image2.png"/></Relationships>
</file>

<file path=ppt/slides/_rels/slide24.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7.jpg"/><Relationship Id="rId4" Type="http://schemas.openxmlformats.org/officeDocument/2006/relationships/image" Target="../media/image6.png"/></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7.jpg"/><Relationship Id="rId4" Type="http://schemas.openxmlformats.org/officeDocument/2006/relationships/image" Target="../media/image6.png"/></Relationships>
</file>

<file path=ppt/slides/_rels/slide27.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73B09A-82D2-7316-C134-3EC8D16F119F}"/>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D6FA9246-AF91-7488-B566-F38829CB0162}"/>
              </a:ext>
            </a:extLst>
          </p:cNvPr>
          <p:cNvSpPr txBox="1"/>
          <p:nvPr/>
        </p:nvSpPr>
        <p:spPr>
          <a:xfrm>
            <a:off x="872251" y="1423788"/>
            <a:ext cx="8574881" cy="3693319"/>
          </a:xfrm>
          <a:prstGeom prst="rect">
            <a:avLst/>
          </a:prstGeom>
          <a:noFill/>
        </p:spPr>
        <p:txBody>
          <a:bodyPr wrap="square" rtlCol="0">
            <a:spAutoFit/>
          </a:bodyPr>
          <a:lstStyle/>
          <a:p>
            <a:pPr algn="just"/>
            <a:r>
              <a:rPr lang="en-US" sz="2600" dirty="0">
                <a:latin typeface="Times New Roman" panose="02020603050405020304" pitchFamily="18" charset="0"/>
                <a:cs typeface="Times New Roman" panose="02020603050405020304" pitchFamily="18" charset="0"/>
              </a:rPr>
              <a:t>The Library management data Analysis System provides an efficient and Organized way to manage library operations and analyze library data. The system helps maintain book and member records, track book issues and returns, monitor overdue books, and manage fines with less manual effort.</a:t>
            </a:r>
          </a:p>
          <a:p>
            <a:pPr algn="just"/>
            <a:endParaRPr lang="en-US" sz="2600" dirty="0">
              <a:latin typeface="Times New Roman" panose="02020603050405020304" pitchFamily="18" charset="0"/>
              <a:cs typeface="Times New Roman" panose="02020603050405020304" pitchFamily="18" charset="0"/>
            </a:endParaRPr>
          </a:p>
          <a:p>
            <a:pPr algn="just"/>
            <a:r>
              <a:rPr lang="en-US" sz="2600" dirty="0">
                <a:latin typeface="Times New Roman" panose="02020603050405020304" pitchFamily="18" charset="0"/>
                <a:cs typeface="Times New Roman" panose="02020603050405020304" pitchFamily="18" charset="0"/>
              </a:rPr>
              <a:t>Overall, the proposed system reduces paperwork, minimizes human errors, saves time, improves data management and provides useful insights for effective library administration.</a:t>
            </a:r>
            <a:endParaRPr lang="en-IN" sz="2600" dirty="0">
              <a:latin typeface="Times New Roman" panose="02020603050405020304" pitchFamily="18" charset="0"/>
              <a:cs typeface="Times New Roman" panose="02020603050405020304" pitchFamily="18" charset="0"/>
            </a:endParaRPr>
          </a:p>
        </p:txBody>
      </p:sp>
      <p:grpSp>
        <p:nvGrpSpPr>
          <p:cNvPr id="7" name="object 3">
            <a:extLst>
              <a:ext uri="{FF2B5EF4-FFF2-40B4-BE49-F238E27FC236}">
                <a16:creationId xmlns:a16="http://schemas.microsoft.com/office/drawing/2014/main" id="{B2734566-69BF-58CB-6E75-AF66B2198105}"/>
              </a:ext>
            </a:extLst>
          </p:cNvPr>
          <p:cNvGrpSpPr/>
          <p:nvPr/>
        </p:nvGrpSpPr>
        <p:grpSpPr>
          <a:xfrm>
            <a:off x="2477248" y="152400"/>
            <a:ext cx="5103904" cy="1198311"/>
            <a:chOff x="2648188" y="47148"/>
            <a:chExt cx="5103904" cy="1198311"/>
          </a:xfrm>
        </p:grpSpPr>
        <p:pic>
          <p:nvPicPr>
            <p:cNvPr id="8" name="object 4">
              <a:extLst>
                <a:ext uri="{FF2B5EF4-FFF2-40B4-BE49-F238E27FC236}">
                  <a16:creationId xmlns:a16="http://schemas.microsoft.com/office/drawing/2014/main" id="{E685E797-06DE-0757-D179-26F2CA2F4B85}"/>
                </a:ext>
              </a:extLst>
            </p:cNvPr>
            <p:cNvPicPr/>
            <p:nvPr/>
          </p:nvPicPr>
          <p:blipFill>
            <a:blip r:embed="rId2" cstate="print"/>
            <a:stretch>
              <a:fillRect/>
            </a:stretch>
          </p:blipFill>
          <p:spPr>
            <a:xfrm>
              <a:off x="2648188" y="47148"/>
              <a:ext cx="5103904" cy="1198311"/>
            </a:xfrm>
            <a:prstGeom prst="rect">
              <a:avLst/>
            </a:prstGeom>
          </p:spPr>
        </p:pic>
        <p:pic>
          <p:nvPicPr>
            <p:cNvPr id="9" name="object 5">
              <a:extLst>
                <a:ext uri="{FF2B5EF4-FFF2-40B4-BE49-F238E27FC236}">
                  <a16:creationId xmlns:a16="http://schemas.microsoft.com/office/drawing/2014/main" id="{30E91D55-075F-6C3E-DA72-A777F5F71A64}"/>
                </a:ext>
              </a:extLst>
            </p:cNvPr>
            <p:cNvPicPr/>
            <p:nvPr/>
          </p:nvPicPr>
          <p:blipFill>
            <a:blip r:embed="rId3" cstate="print"/>
            <a:stretch>
              <a:fillRect/>
            </a:stretch>
          </p:blipFill>
          <p:spPr>
            <a:xfrm>
              <a:off x="2703195" y="86439"/>
              <a:ext cx="4997767" cy="1092279"/>
            </a:xfrm>
            <a:prstGeom prst="rect">
              <a:avLst/>
            </a:prstGeom>
          </p:spPr>
        </p:pic>
        <p:pic>
          <p:nvPicPr>
            <p:cNvPr id="10" name="object 6">
              <a:extLst>
                <a:ext uri="{FF2B5EF4-FFF2-40B4-BE49-F238E27FC236}">
                  <a16:creationId xmlns:a16="http://schemas.microsoft.com/office/drawing/2014/main" id="{5D8F3173-A071-9A52-AB47-B3966B09FF67}"/>
                </a:ext>
              </a:extLst>
            </p:cNvPr>
            <p:cNvPicPr/>
            <p:nvPr/>
          </p:nvPicPr>
          <p:blipFill>
            <a:blip r:embed="rId4" cstate="print"/>
            <a:stretch>
              <a:fillRect/>
            </a:stretch>
          </p:blipFill>
          <p:spPr>
            <a:xfrm>
              <a:off x="2828925" y="243549"/>
              <a:ext cx="4585268" cy="522565"/>
            </a:xfrm>
            <a:prstGeom prst="rect">
              <a:avLst/>
            </a:prstGeom>
          </p:spPr>
        </p:pic>
        <p:sp>
          <p:nvSpPr>
            <p:cNvPr id="11" name="object 7">
              <a:extLst>
                <a:ext uri="{FF2B5EF4-FFF2-40B4-BE49-F238E27FC236}">
                  <a16:creationId xmlns:a16="http://schemas.microsoft.com/office/drawing/2014/main" id="{7FEBCE93-2664-646B-9C44-61F54C75CA19}"/>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2" name="object 9">
            <a:extLst>
              <a:ext uri="{FF2B5EF4-FFF2-40B4-BE49-F238E27FC236}">
                <a16:creationId xmlns:a16="http://schemas.microsoft.com/office/drawing/2014/main" id="{E6C6EFE2-08DF-64CB-4513-3C16865F89F7}"/>
              </a:ext>
            </a:extLst>
          </p:cNvPr>
          <p:cNvSpPr txBox="1">
            <a:spLocks noGrp="1"/>
          </p:cNvSpPr>
          <p:nvPr>
            <p:ph type="title"/>
          </p:nvPr>
        </p:nvSpPr>
        <p:spPr>
          <a:xfrm>
            <a:off x="3945255" y="432593"/>
            <a:ext cx="2167890" cy="327660"/>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CONCLUSION</a:t>
            </a:r>
          </a:p>
        </p:txBody>
      </p:sp>
      <p:pic>
        <p:nvPicPr>
          <p:cNvPr id="13" name="object 3">
            <a:extLst>
              <a:ext uri="{FF2B5EF4-FFF2-40B4-BE49-F238E27FC236}">
                <a16:creationId xmlns:a16="http://schemas.microsoft.com/office/drawing/2014/main" id="{D6A45C25-43A0-12FE-5A09-3CB48A5D01B1}"/>
              </a:ext>
            </a:extLst>
          </p:cNvPr>
          <p:cNvPicPr/>
          <p:nvPr/>
        </p:nvPicPr>
        <p:blipFill>
          <a:blip r:embed="rId5" cstate="print"/>
          <a:stretch>
            <a:fillRect/>
          </a:stretch>
        </p:blipFill>
        <p:spPr>
          <a:xfrm>
            <a:off x="290750" y="204311"/>
            <a:ext cx="1163002" cy="424338"/>
          </a:xfrm>
          <a:prstGeom prst="rect">
            <a:avLst/>
          </a:prstGeom>
        </p:spPr>
      </p:pic>
    </p:spTree>
    <p:extLst>
      <p:ext uri="{BB962C8B-B14F-4D97-AF65-F5344CB8AC3E}">
        <p14:creationId xmlns:p14="http://schemas.microsoft.com/office/powerpoint/2010/main" val="17610598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E9FFC0-A7E4-2E66-52C5-7DD305254FD4}"/>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E2EAA34F-2716-C9B2-6ECB-72B5076CDBB8}"/>
              </a:ext>
            </a:extLst>
          </p:cNvPr>
          <p:cNvSpPr txBox="1"/>
          <p:nvPr/>
        </p:nvSpPr>
        <p:spPr>
          <a:xfrm>
            <a:off x="872251" y="1423788"/>
            <a:ext cx="8574881" cy="3693319"/>
          </a:xfrm>
          <a:prstGeom prst="rect">
            <a:avLst/>
          </a:prstGeom>
          <a:noFill/>
        </p:spPr>
        <p:txBody>
          <a:bodyPr wrap="square" rtlCol="0">
            <a:spAutoFit/>
          </a:bodyPr>
          <a:lstStyle/>
          <a:p>
            <a:pPr algn="just"/>
            <a:r>
              <a:rPr lang="en-US" sz="2600" dirty="0">
                <a:latin typeface="Times New Roman" panose="02020603050405020304" pitchFamily="18" charset="0"/>
                <a:cs typeface="Times New Roman" panose="02020603050405020304" pitchFamily="18" charset="0"/>
              </a:rPr>
              <a:t>The Library management data Analysis System provides an efficient and Organized way to manage library operations and analyze library data. The system helps maintain book and member records, track book issues and returns, monitor overdue books, and manage fines with less manual effort.</a:t>
            </a:r>
          </a:p>
          <a:p>
            <a:pPr algn="just"/>
            <a:endParaRPr lang="en-US" sz="2600" dirty="0">
              <a:latin typeface="Times New Roman" panose="02020603050405020304" pitchFamily="18" charset="0"/>
              <a:cs typeface="Times New Roman" panose="02020603050405020304" pitchFamily="18" charset="0"/>
            </a:endParaRPr>
          </a:p>
          <a:p>
            <a:pPr algn="just"/>
            <a:r>
              <a:rPr lang="en-US" sz="2600" dirty="0">
                <a:latin typeface="Times New Roman" panose="02020603050405020304" pitchFamily="18" charset="0"/>
                <a:cs typeface="Times New Roman" panose="02020603050405020304" pitchFamily="18" charset="0"/>
              </a:rPr>
              <a:t>Overall, the proposed system reduces paperwork, minimizes human errors, saves time, improves data management and provides useful insights for effective library administration.</a:t>
            </a:r>
            <a:endParaRPr lang="en-IN" sz="2600" dirty="0">
              <a:latin typeface="Times New Roman" panose="02020603050405020304" pitchFamily="18" charset="0"/>
              <a:cs typeface="Times New Roman" panose="02020603050405020304" pitchFamily="18" charset="0"/>
            </a:endParaRPr>
          </a:p>
        </p:txBody>
      </p:sp>
      <p:grpSp>
        <p:nvGrpSpPr>
          <p:cNvPr id="7" name="object 3">
            <a:extLst>
              <a:ext uri="{FF2B5EF4-FFF2-40B4-BE49-F238E27FC236}">
                <a16:creationId xmlns:a16="http://schemas.microsoft.com/office/drawing/2014/main" id="{7A9E7776-4291-16B3-28B0-A262C1CB3A80}"/>
              </a:ext>
            </a:extLst>
          </p:cNvPr>
          <p:cNvGrpSpPr/>
          <p:nvPr/>
        </p:nvGrpSpPr>
        <p:grpSpPr>
          <a:xfrm>
            <a:off x="2477248" y="152400"/>
            <a:ext cx="5103904" cy="1198311"/>
            <a:chOff x="2648188" y="47148"/>
            <a:chExt cx="5103904" cy="1198311"/>
          </a:xfrm>
        </p:grpSpPr>
        <p:pic>
          <p:nvPicPr>
            <p:cNvPr id="8" name="object 4">
              <a:extLst>
                <a:ext uri="{FF2B5EF4-FFF2-40B4-BE49-F238E27FC236}">
                  <a16:creationId xmlns:a16="http://schemas.microsoft.com/office/drawing/2014/main" id="{D3BF9368-3FDD-2741-23B3-39F9E9DA410D}"/>
                </a:ext>
              </a:extLst>
            </p:cNvPr>
            <p:cNvPicPr/>
            <p:nvPr/>
          </p:nvPicPr>
          <p:blipFill>
            <a:blip r:embed="rId2" cstate="print"/>
            <a:stretch>
              <a:fillRect/>
            </a:stretch>
          </p:blipFill>
          <p:spPr>
            <a:xfrm>
              <a:off x="2648188" y="47148"/>
              <a:ext cx="5103904" cy="1198311"/>
            </a:xfrm>
            <a:prstGeom prst="rect">
              <a:avLst/>
            </a:prstGeom>
          </p:spPr>
        </p:pic>
        <p:pic>
          <p:nvPicPr>
            <p:cNvPr id="9" name="object 5">
              <a:extLst>
                <a:ext uri="{FF2B5EF4-FFF2-40B4-BE49-F238E27FC236}">
                  <a16:creationId xmlns:a16="http://schemas.microsoft.com/office/drawing/2014/main" id="{D18960A4-DBA4-322A-5B31-F23BB6CCBBC8}"/>
                </a:ext>
              </a:extLst>
            </p:cNvPr>
            <p:cNvPicPr/>
            <p:nvPr/>
          </p:nvPicPr>
          <p:blipFill>
            <a:blip r:embed="rId3" cstate="print"/>
            <a:stretch>
              <a:fillRect/>
            </a:stretch>
          </p:blipFill>
          <p:spPr>
            <a:xfrm>
              <a:off x="2703195" y="86439"/>
              <a:ext cx="4997767" cy="1092279"/>
            </a:xfrm>
            <a:prstGeom prst="rect">
              <a:avLst/>
            </a:prstGeom>
          </p:spPr>
        </p:pic>
        <p:pic>
          <p:nvPicPr>
            <p:cNvPr id="10" name="object 6">
              <a:extLst>
                <a:ext uri="{FF2B5EF4-FFF2-40B4-BE49-F238E27FC236}">
                  <a16:creationId xmlns:a16="http://schemas.microsoft.com/office/drawing/2014/main" id="{D5932AB1-30A9-2B3C-0A74-C63489F3BC6C}"/>
                </a:ext>
              </a:extLst>
            </p:cNvPr>
            <p:cNvPicPr/>
            <p:nvPr/>
          </p:nvPicPr>
          <p:blipFill>
            <a:blip r:embed="rId4" cstate="print"/>
            <a:stretch>
              <a:fillRect/>
            </a:stretch>
          </p:blipFill>
          <p:spPr>
            <a:xfrm>
              <a:off x="2828925" y="243549"/>
              <a:ext cx="4585268" cy="522565"/>
            </a:xfrm>
            <a:prstGeom prst="rect">
              <a:avLst/>
            </a:prstGeom>
          </p:spPr>
        </p:pic>
        <p:sp>
          <p:nvSpPr>
            <p:cNvPr id="11" name="object 7">
              <a:extLst>
                <a:ext uri="{FF2B5EF4-FFF2-40B4-BE49-F238E27FC236}">
                  <a16:creationId xmlns:a16="http://schemas.microsoft.com/office/drawing/2014/main" id="{4B62BBC8-775D-1847-0273-F4B7689ED582}"/>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2" name="object 9">
            <a:extLst>
              <a:ext uri="{FF2B5EF4-FFF2-40B4-BE49-F238E27FC236}">
                <a16:creationId xmlns:a16="http://schemas.microsoft.com/office/drawing/2014/main" id="{FC52B720-2C16-5477-BAA2-434182965B41}"/>
              </a:ext>
            </a:extLst>
          </p:cNvPr>
          <p:cNvSpPr txBox="1">
            <a:spLocks noGrp="1"/>
          </p:cNvSpPr>
          <p:nvPr>
            <p:ph type="title"/>
          </p:nvPr>
        </p:nvSpPr>
        <p:spPr>
          <a:xfrm>
            <a:off x="3945255" y="432593"/>
            <a:ext cx="2167890" cy="327660"/>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CONCLUSION</a:t>
            </a:r>
          </a:p>
        </p:txBody>
      </p:sp>
      <p:pic>
        <p:nvPicPr>
          <p:cNvPr id="13" name="object 3">
            <a:extLst>
              <a:ext uri="{FF2B5EF4-FFF2-40B4-BE49-F238E27FC236}">
                <a16:creationId xmlns:a16="http://schemas.microsoft.com/office/drawing/2014/main" id="{35AD87C3-7315-328D-5B26-1E6B12B01954}"/>
              </a:ext>
            </a:extLst>
          </p:cNvPr>
          <p:cNvPicPr/>
          <p:nvPr/>
        </p:nvPicPr>
        <p:blipFill>
          <a:blip r:embed="rId5" cstate="print"/>
          <a:stretch>
            <a:fillRect/>
          </a:stretch>
        </p:blipFill>
        <p:spPr>
          <a:xfrm>
            <a:off x="290750" y="204311"/>
            <a:ext cx="1163002" cy="424338"/>
          </a:xfrm>
          <a:prstGeom prst="rect">
            <a:avLst/>
          </a:prstGeom>
        </p:spPr>
      </p:pic>
    </p:spTree>
    <p:extLst>
      <p:ext uri="{BB962C8B-B14F-4D97-AF65-F5344CB8AC3E}">
        <p14:creationId xmlns:p14="http://schemas.microsoft.com/office/powerpoint/2010/main" val="23016993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8390F4-C2B1-83CB-530A-8B78E9A8245B}"/>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9227D045-7541-BFBB-090A-F942567E6FC1}"/>
              </a:ext>
            </a:extLst>
          </p:cNvPr>
          <p:cNvSpPr txBox="1"/>
          <p:nvPr/>
        </p:nvSpPr>
        <p:spPr>
          <a:xfrm>
            <a:off x="872251" y="1423788"/>
            <a:ext cx="8574881" cy="3693319"/>
          </a:xfrm>
          <a:prstGeom prst="rect">
            <a:avLst/>
          </a:prstGeom>
          <a:noFill/>
        </p:spPr>
        <p:txBody>
          <a:bodyPr wrap="square" rtlCol="0">
            <a:spAutoFit/>
          </a:bodyPr>
          <a:lstStyle/>
          <a:p>
            <a:pPr algn="just"/>
            <a:r>
              <a:rPr lang="en-US" sz="2600" dirty="0">
                <a:latin typeface="Times New Roman" panose="02020603050405020304" pitchFamily="18" charset="0"/>
                <a:cs typeface="Times New Roman" panose="02020603050405020304" pitchFamily="18" charset="0"/>
              </a:rPr>
              <a:t>The Library management data Analysis System provides an efficient and Organized way to manage library operations and analyze library data. The system helps maintain book and member records, track book issues and returns, monitor overdue books, and manage fines with less manual effort.</a:t>
            </a:r>
          </a:p>
          <a:p>
            <a:pPr algn="just"/>
            <a:endParaRPr lang="en-US" sz="2600" dirty="0">
              <a:latin typeface="Times New Roman" panose="02020603050405020304" pitchFamily="18" charset="0"/>
              <a:cs typeface="Times New Roman" panose="02020603050405020304" pitchFamily="18" charset="0"/>
            </a:endParaRPr>
          </a:p>
          <a:p>
            <a:pPr algn="just"/>
            <a:r>
              <a:rPr lang="en-US" sz="2600" dirty="0">
                <a:latin typeface="Times New Roman" panose="02020603050405020304" pitchFamily="18" charset="0"/>
                <a:cs typeface="Times New Roman" panose="02020603050405020304" pitchFamily="18" charset="0"/>
              </a:rPr>
              <a:t>Overall, the proposed system reduces paperwork, minimizes human errors, saves time, improves data management and provides useful insights for effective library administration.</a:t>
            </a:r>
            <a:endParaRPr lang="en-IN" sz="2600" dirty="0">
              <a:latin typeface="Times New Roman" panose="02020603050405020304" pitchFamily="18" charset="0"/>
              <a:cs typeface="Times New Roman" panose="02020603050405020304" pitchFamily="18" charset="0"/>
            </a:endParaRPr>
          </a:p>
        </p:txBody>
      </p:sp>
      <p:grpSp>
        <p:nvGrpSpPr>
          <p:cNvPr id="7" name="object 3">
            <a:extLst>
              <a:ext uri="{FF2B5EF4-FFF2-40B4-BE49-F238E27FC236}">
                <a16:creationId xmlns:a16="http://schemas.microsoft.com/office/drawing/2014/main" id="{E5CB7FD9-619A-B657-0ADD-90EE83A34B98}"/>
              </a:ext>
            </a:extLst>
          </p:cNvPr>
          <p:cNvGrpSpPr/>
          <p:nvPr/>
        </p:nvGrpSpPr>
        <p:grpSpPr>
          <a:xfrm>
            <a:off x="2477248" y="152400"/>
            <a:ext cx="5103904" cy="1198311"/>
            <a:chOff x="2648188" y="47148"/>
            <a:chExt cx="5103904" cy="1198311"/>
          </a:xfrm>
        </p:grpSpPr>
        <p:pic>
          <p:nvPicPr>
            <p:cNvPr id="8" name="object 4">
              <a:extLst>
                <a:ext uri="{FF2B5EF4-FFF2-40B4-BE49-F238E27FC236}">
                  <a16:creationId xmlns:a16="http://schemas.microsoft.com/office/drawing/2014/main" id="{4F7D209C-852A-8C21-97BD-728B41E8C405}"/>
                </a:ext>
              </a:extLst>
            </p:cNvPr>
            <p:cNvPicPr/>
            <p:nvPr/>
          </p:nvPicPr>
          <p:blipFill>
            <a:blip r:embed="rId2" cstate="print"/>
            <a:stretch>
              <a:fillRect/>
            </a:stretch>
          </p:blipFill>
          <p:spPr>
            <a:xfrm>
              <a:off x="2648188" y="47148"/>
              <a:ext cx="5103904" cy="1198311"/>
            </a:xfrm>
            <a:prstGeom prst="rect">
              <a:avLst/>
            </a:prstGeom>
          </p:spPr>
        </p:pic>
        <p:pic>
          <p:nvPicPr>
            <p:cNvPr id="9" name="object 5">
              <a:extLst>
                <a:ext uri="{FF2B5EF4-FFF2-40B4-BE49-F238E27FC236}">
                  <a16:creationId xmlns:a16="http://schemas.microsoft.com/office/drawing/2014/main" id="{AC6C7D21-BC95-1CF0-EF67-291DE6006F1D}"/>
                </a:ext>
              </a:extLst>
            </p:cNvPr>
            <p:cNvPicPr/>
            <p:nvPr/>
          </p:nvPicPr>
          <p:blipFill>
            <a:blip r:embed="rId3" cstate="print"/>
            <a:stretch>
              <a:fillRect/>
            </a:stretch>
          </p:blipFill>
          <p:spPr>
            <a:xfrm>
              <a:off x="2703195" y="86439"/>
              <a:ext cx="4997767" cy="1092279"/>
            </a:xfrm>
            <a:prstGeom prst="rect">
              <a:avLst/>
            </a:prstGeom>
          </p:spPr>
        </p:pic>
        <p:pic>
          <p:nvPicPr>
            <p:cNvPr id="10" name="object 6">
              <a:extLst>
                <a:ext uri="{FF2B5EF4-FFF2-40B4-BE49-F238E27FC236}">
                  <a16:creationId xmlns:a16="http://schemas.microsoft.com/office/drawing/2014/main" id="{2A8B5C99-1B13-7348-97DB-893C5798403D}"/>
                </a:ext>
              </a:extLst>
            </p:cNvPr>
            <p:cNvPicPr/>
            <p:nvPr/>
          </p:nvPicPr>
          <p:blipFill>
            <a:blip r:embed="rId4" cstate="print"/>
            <a:stretch>
              <a:fillRect/>
            </a:stretch>
          </p:blipFill>
          <p:spPr>
            <a:xfrm>
              <a:off x="2828925" y="243549"/>
              <a:ext cx="4585268" cy="522565"/>
            </a:xfrm>
            <a:prstGeom prst="rect">
              <a:avLst/>
            </a:prstGeom>
          </p:spPr>
        </p:pic>
        <p:sp>
          <p:nvSpPr>
            <p:cNvPr id="11" name="object 7">
              <a:extLst>
                <a:ext uri="{FF2B5EF4-FFF2-40B4-BE49-F238E27FC236}">
                  <a16:creationId xmlns:a16="http://schemas.microsoft.com/office/drawing/2014/main" id="{D79ACB20-DB61-31B6-155A-79FC80AD0B53}"/>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2" name="object 9">
            <a:extLst>
              <a:ext uri="{FF2B5EF4-FFF2-40B4-BE49-F238E27FC236}">
                <a16:creationId xmlns:a16="http://schemas.microsoft.com/office/drawing/2014/main" id="{A3A22BD7-FF1F-7067-0823-C4FD662C5350}"/>
              </a:ext>
            </a:extLst>
          </p:cNvPr>
          <p:cNvSpPr txBox="1">
            <a:spLocks noGrp="1"/>
          </p:cNvSpPr>
          <p:nvPr>
            <p:ph type="title"/>
          </p:nvPr>
        </p:nvSpPr>
        <p:spPr>
          <a:xfrm>
            <a:off x="3945255" y="432593"/>
            <a:ext cx="2167890" cy="327660"/>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CONCLUSION</a:t>
            </a:r>
          </a:p>
        </p:txBody>
      </p:sp>
      <p:pic>
        <p:nvPicPr>
          <p:cNvPr id="13" name="object 3">
            <a:extLst>
              <a:ext uri="{FF2B5EF4-FFF2-40B4-BE49-F238E27FC236}">
                <a16:creationId xmlns:a16="http://schemas.microsoft.com/office/drawing/2014/main" id="{950F8658-6257-9949-0903-026C51178858}"/>
              </a:ext>
            </a:extLst>
          </p:cNvPr>
          <p:cNvPicPr/>
          <p:nvPr/>
        </p:nvPicPr>
        <p:blipFill>
          <a:blip r:embed="rId5" cstate="print"/>
          <a:stretch>
            <a:fillRect/>
          </a:stretch>
        </p:blipFill>
        <p:spPr>
          <a:xfrm>
            <a:off x="290750" y="204311"/>
            <a:ext cx="1163002" cy="424338"/>
          </a:xfrm>
          <a:prstGeom prst="rect">
            <a:avLst/>
          </a:prstGeom>
        </p:spPr>
      </p:pic>
    </p:spTree>
    <p:extLst>
      <p:ext uri="{BB962C8B-B14F-4D97-AF65-F5344CB8AC3E}">
        <p14:creationId xmlns:p14="http://schemas.microsoft.com/office/powerpoint/2010/main" val="26623829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987B5E-688C-360F-AF30-A778308E9901}"/>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8A28755C-2993-3283-ACB3-7D7406E7C3C1}"/>
              </a:ext>
            </a:extLst>
          </p:cNvPr>
          <p:cNvSpPr txBox="1"/>
          <p:nvPr/>
        </p:nvSpPr>
        <p:spPr>
          <a:xfrm>
            <a:off x="872251" y="1423788"/>
            <a:ext cx="8574881" cy="3693319"/>
          </a:xfrm>
          <a:prstGeom prst="rect">
            <a:avLst/>
          </a:prstGeom>
          <a:noFill/>
        </p:spPr>
        <p:txBody>
          <a:bodyPr wrap="square" rtlCol="0">
            <a:spAutoFit/>
          </a:bodyPr>
          <a:lstStyle/>
          <a:p>
            <a:pPr algn="just"/>
            <a:r>
              <a:rPr lang="en-US" sz="2600" dirty="0">
                <a:latin typeface="Times New Roman" panose="02020603050405020304" pitchFamily="18" charset="0"/>
                <a:cs typeface="Times New Roman" panose="02020603050405020304" pitchFamily="18" charset="0"/>
              </a:rPr>
              <a:t>The Library management data Analysis System provides an efficient and Organized way to manage library operations and analyze library data. The system helps maintain book and member records, track book issues and returns, monitor overdue books, and manage fines with less manual effort.</a:t>
            </a:r>
          </a:p>
          <a:p>
            <a:pPr algn="just"/>
            <a:endParaRPr lang="en-US" sz="2600" dirty="0">
              <a:latin typeface="Times New Roman" panose="02020603050405020304" pitchFamily="18" charset="0"/>
              <a:cs typeface="Times New Roman" panose="02020603050405020304" pitchFamily="18" charset="0"/>
            </a:endParaRPr>
          </a:p>
          <a:p>
            <a:pPr algn="just"/>
            <a:r>
              <a:rPr lang="en-US" sz="2600" dirty="0">
                <a:latin typeface="Times New Roman" panose="02020603050405020304" pitchFamily="18" charset="0"/>
                <a:cs typeface="Times New Roman" panose="02020603050405020304" pitchFamily="18" charset="0"/>
              </a:rPr>
              <a:t>Overall, the proposed system reduces paperwork, minimizes human errors, saves time, improves data management and provides useful insights for effective library administration.</a:t>
            </a:r>
            <a:endParaRPr lang="en-IN" sz="2600" dirty="0">
              <a:latin typeface="Times New Roman" panose="02020603050405020304" pitchFamily="18" charset="0"/>
              <a:cs typeface="Times New Roman" panose="02020603050405020304" pitchFamily="18" charset="0"/>
            </a:endParaRPr>
          </a:p>
        </p:txBody>
      </p:sp>
      <p:grpSp>
        <p:nvGrpSpPr>
          <p:cNvPr id="7" name="object 3">
            <a:extLst>
              <a:ext uri="{FF2B5EF4-FFF2-40B4-BE49-F238E27FC236}">
                <a16:creationId xmlns:a16="http://schemas.microsoft.com/office/drawing/2014/main" id="{0DA73C75-4C4A-94AC-4872-8CBC663974B5}"/>
              </a:ext>
            </a:extLst>
          </p:cNvPr>
          <p:cNvGrpSpPr/>
          <p:nvPr/>
        </p:nvGrpSpPr>
        <p:grpSpPr>
          <a:xfrm>
            <a:off x="2477248" y="152400"/>
            <a:ext cx="5103904" cy="1198311"/>
            <a:chOff x="2648188" y="47148"/>
            <a:chExt cx="5103904" cy="1198311"/>
          </a:xfrm>
        </p:grpSpPr>
        <p:pic>
          <p:nvPicPr>
            <p:cNvPr id="8" name="object 4">
              <a:extLst>
                <a:ext uri="{FF2B5EF4-FFF2-40B4-BE49-F238E27FC236}">
                  <a16:creationId xmlns:a16="http://schemas.microsoft.com/office/drawing/2014/main" id="{D635A1B7-1083-189F-5071-7FF014076207}"/>
                </a:ext>
              </a:extLst>
            </p:cNvPr>
            <p:cNvPicPr/>
            <p:nvPr/>
          </p:nvPicPr>
          <p:blipFill>
            <a:blip r:embed="rId2" cstate="print"/>
            <a:stretch>
              <a:fillRect/>
            </a:stretch>
          </p:blipFill>
          <p:spPr>
            <a:xfrm>
              <a:off x="2648188" y="47148"/>
              <a:ext cx="5103904" cy="1198311"/>
            </a:xfrm>
            <a:prstGeom prst="rect">
              <a:avLst/>
            </a:prstGeom>
          </p:spPr>
        </p:pic>
        <p:pic>
          <p:nvPicPr>
            <p:cNvPr id="9" name="object 5">
              <a:extLst>
                <a:ext uri="{FF2B5EF4-FFF2-40B4-BE49-F238E27FC236}">
                  <a16:creationId xmlns:a16="http://schemas.microsoft.com/office/drawing/2014/main" id="{C8032EF6-295D-6C9C-0B22-B5DE1D04CC40}"/>
                </a:ext>
              </a:extLst>
            </p:cNvPr>
            <p:cNvPicPr/>
            <p:nvPr/>
          </p:nvPicPr>
          <p:blipFill>
            <a:blip r:embed="rId3" cstate="print"/>
            <a:stretch>
              <a:fillRect/>
            </a:stretch>
          </p:blipFill>
          <p:spPr>
            <a:xfrm>
              <a:off x="2703195" y="86439"/>
              <a:ext cx="4997767" cy="1092279"/>
            </a:xfrm>
            <a:prstGeom prst="rect">
              <a:avLst/>
            </a:prstGeom>
          </p:spPr>
        </p:pic>
        <p:pic>
          <p:nvPicPr>
            <p:cNvPr id="10" name="object 6">
              <a:extLst>
                <a:ext uri="{FF2B5EF4-FFF2-40B4-BE49-F238E27FC236}">
                  <a16:creationId xmlns:a16="http://schemas.microsoft.com/office/drawing/2014/main" id="{06FB8ACD-8A0E-944A-4E6C-C77AD07885BA}"/>
                </a:ext>
              </a:extLst>
            </p:cNvPr>
            <p:cNvPicPr/>
            <p:nvPr/>
          </p:nvPicPr>
          <p:blipFill>
            <a:blip r:embed="rId4" cstate="print"/>
            <a:stretch>
              <a:fillRect/>
            </a:stretch>
          </p:blipFill>
          <p:spPr>
            <a:xfrm>
              <a:off x="2828925" y="243549"/>
              <a:ext cx="4585268" cy="522565"/>
            </a:xfrm>
            <a:prstGeom prst="rect">
              <a:avLst/>
            </a:prstGeom>
          </p:spPr>
        </p:pic>
        <p:sp>
          <p:nvSpPr>
            <p:cNvPr id="11" name="object 7">
              <a:extLst>
                <a:ext uri="{FF2B5EF4-FFF2-40B4-BE49-F238E27FC236}">
                  <a16:creationId xmlns:a16="http://schemas.microsoft.com/office/drawing/2014/main" id="{7B242A12-F177-D8E9-B9FD-46C8459B6E5D}"/>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2" name="object 9">
            <a:extLst>
              <a:ext uri="{FF2B5EF4-FFF2-40B4-BE49-F238E27FC236}">
                <a16:creationId xmlns:a16="http://schemas.microsoft.com/office/drawing/2014/main" id="{15D39B96-27A5-A310-0D8E-494A30A27844}"/>
              </a:ext>
            </a:extLst>
          </p:cNvPr>
          <p:cNvSpPr txBox="1">
            <a:spLocks noGrp="1"/>
          </p:cNvSpPr>
          <p:nvPr>
            <p:ph type="title"/>
          </p:nvPr>
        </p:nvSpPr>
        <p:spPr>
          <a:xfrm>
            <a:off x="3945255" y="432593"/>
            <a:ext cx="2167890" cy="327660"/>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CONCLUSION</a:t>
            </a:r>
          </a:p>
        </p:txBody>
      </p:sp>
      <p:pic>
        <p:nvPicPr>
          <p:cNvPr id="13" name="object 3">
            <a:extLst>
              <a:ext uri="{FF2B5EF4-FFF2-40B4-BE49-F238E27FC236}">
                <a16:creationId xmlns:a16="http://schemas.microsoft.com/office/drawing/2014/main" id="{4614EF71-2CA3-E310-3F05-16E101B7A808}"/>
              </a:ext>
            </a:extLst>
          </p:cNvPr>
          <p:cNvPicPr/>
          <p:nvPr/>
        </p:nvPicPr>
        <p:blipFill>
          <a:blip r:embed="rId5" cstate="print"/>
          <a:stretch>
            <a:fillRect/>
          </a:stretch>
        </p:blipFill>
        <p:spPr>
          <a:xfrm>
            <a:off x="290750" y="204311"/>
            <a:ext cx="1163002" cy="424338"/>
          </a:xfrm>
          <a:prstGeom prst="rect">
            <a:avLst/>
          </a:prstGeom>
        </p:spPr>
      </p:pic>
    </p:spTree>
    <p:extLst>
      <p:ext uri="{BB962C8B-B14F-4D97-AF65-F5344CB8AC3E}">
        <p14:creationId xmlns:p14="http://schemas.microsoft.com/office/powerpoint/2010/main" val="12517160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4E4E40-D958-CD79-AEC6-A9F2897A205B}"/>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8763860C-0A3A-BD32-C678-6AFDC41E4A73}"/>
              </a:ext>
            </a:extLst>
          </p:cNvPr>
          <p:cNvSpPr txBox="1"/>
          <p:nvPr/>
        </p:nvSpPr>
        <p:spPr>
          <a:xfrm>
            <a:off x="872251" y="1423788"/>
            <a:ext cx="8574881" cy="3693319"/>
          </a:xfrm>
          <a:prstGeom prst="rect">
            <a:avLst/>
          </a:prstGeom>
          <a:noFill/>
        </p:spPr>
        <p:txBody>
          <a:bodyPr wrap="square" rtlCol="0">
            <a:spAutoFit/>
          </a:bodyPr>
          <a:lstStyle/>
          <a:p>
            <a:pPr algn="just"/>
            <a:r>
              <a:rPr lang="en-US" sz="2600" dirty="0">
                <a:latin typeface="Times New Roman" panose="02020603050405020304" pitchFamily="18" charset="0"/>
                <a:cs typeface="Times New Roman" panose="02020603050405020304" pitchFamily="18" charset="0"/>
              </a:rPr>
              <a:t>The Library management data Analysis System provides an efficient and Organized way to manage library operations and analyze library data. The system helps maintain book and member records, track book issues and returns, monitor overdue books, and manage fines with less manual effort.</a:t>
            </a:r>
          </a:p>
          <a:p>
            <a:pPr algn="just"/>
            <a:endParaRPr lang="en-US" sz="2600" dirty="0">
              <a:latin typeface="Times New Roman" panose="02020603050405020304" pitchFamily="18" charset="0"/>
              <a:cs typeface="Times New Roman" panose="02020603050405020304" pitchFamily="18" charset="0"/>
            </a:endParaRPr>
          </a:p>
          <a:p>
            <a:pPr algn="just"/>
            <a:r>
              <a:rPr lang="en-US" sz="2600" dirty="0">
                <a:latin typeface="Times New Roman" panose="02020603050405020304" pitchFamily="18" charset="0"/>
                <a:cs typeface="Times New Roman" panose="02020603050405020304" pitchFamily="18" charset="0"/>
              </a:rPr>
              <a:t>Overall, the proposed system reduces paperwork, minimizes human errors, saves time, improves data management and provides useful insights for effective library administration.</a:t>
            </a:r>
            <a:endParaRPr lang="en-IN" sz="2600" dirty="0">
              <a:latin typeface="Times New Roman" panose="02020603050405020304" pitchFamily="18" charset="0"/>
              <a:cs typeface="Times New Roman" panose="02020603050405020304" pitchFamily="18" charset="0"/>
            </a:endParaRPr>
          </a:p>
        </p:txBody>
      </p:sp>
      <p:grpSp>
        <p:nvGrpSpPr>
          <p:cNvPr id="7" name="object 3">
            <a:extLst>
              <a:ext uri="{FF2B5EF4-FFF2-40B4-BE49-F238E27FC236}">
                <a16:creationId xmlns:a16="http://schemas.microsoft.com/office/drawing/2014/main" id="{4A313166-6BE8-18D4-A7E5-64B060EF1984}"/>
              </a:ext>
            </a:extLst>
          </p:cNvPr>
          <p:cNvGrpSpPr/>
          <p:nvPr/>
        </p:nvGrpSpPr>
        <p:grpSpPr>
          <a:xfrm>
            <a:off x="2477248" y="152400"/>
            <a:ext cx="5103904" cy="1198311"/>
            <a:chOff x="2648188" y="47148"/>
            <a:chExt cx="5103904" cy="1198311"/>
          </a:xfrm>
        </p:grpSpPr>
        <p:pic>
          <p:nvPicPr>
            <p:cNvPr id="8" name="object 4">
              <a:extLst>
                <a:ext uri="{FF2B5EF4-FFF2-40B4-BE49-F238E27FC236}">
                  <a16:creationId xmlns:a16="http://schemas.microsoft.com/office/drawing/2014/main" id="{42A4C1FE-E464-5459-4C97-9FB5B7C1EDE2}"/>
                </a:ext>
              </a:extLst>
            </p:cNvPr>
            <p:cNvPicPr/>
            <p:nvPr/>
          </p:nvPicPr>
          <p:blipFill>
            <a:blip r:embed="rId2" cstate="print"/>
            <a:stretch>
              <a:fillRect/>
            </a:stretch>
          </p:blipFill>
          <p:spPr>
            <a:xfrm>
              <a:off x="2648188" y="47148"/>
              <a:ext cx="5103904" cy="1198311"/>
            </a:xfrm>
            <a:prstGeom prst="rect">
              <a:avLst/>
            </a:prstGeom>
          </p:spPr>
        </p:pic>
        <p:pic>
          <p:nvPicPr>
            <p:cNvPr id="9" name="object 5">
              <a:extLst>
                <a:ext uri="{FF2B5EF4-FFF2-40B4-BE49-F238E27FC236}">
                  <a16:creationId xmlns:a16="http://schemas.microsoft.com/office/drawing/2014/main" id="{44AA758B-D68B-2F9B-C960-96668216AB70}"/>
                </a:ext>
              </a:extLst>
            </p:cNvPr>
            <p:cNvPicPr/>
            <p:nvPr/>
          </p:nvPicPr>
          <p:blipFill>
            <a:blip r:embed="rId3" cstate="print"/>
            <a:stretch>
              <a:fillRect/>
            </a:stretch>
          </p:blipFill>
          <p:spPr>
            <a:xfrm>
              <a:off x="2703195" y="86439"/>
              <a:ext cx="4997767" cy="1092279"/>
            </a:xfrm>
            <a:prstGeom prst="rect">
              <a:avLst/>
            </a:prstGeom>
          </p:spPr>
        </p:pic>
        <p:pic>
          <p:nvPicPr>
            <p:cNvPr id="10" name="object 6">
              <a:extLst>
                <a:ext uri="{FF2B5EF4-FFF2-40B4-BE49-F238E27FC236}">
                  <a16:creationId xmlns:a16="http://schemas.microsoft.com/office/drawing/2014/main" id="{352E6816-6DFC-DF8C-AD95-CF08FA8BCE26}"/>
                </a:ext>
              </a:extLst>
            </p:cNvPr>
            <p:cNvPicPr/>
            <p:nvPr/>
          </p:nvPicPr>
          <p:blipFill>
            <a:blip r:embed="rId4" cstate="print"/>
            <a:stretch>
              <a:fillRect/>
            </a:stretch>
          </p:blipFill>
          <p:spPr>
            <a:xfrm>
              <a:off x="2828925" y="243549"/>
              <a:ext cx="4585268" cy="522565"/>
            </a:xfrm>
            <a:prstGeom prst="rect">
              <a:avLst/>
            </a:prstGeom>
          </p:spPr>
        </p:pic>
        <p:sp>
          <p:nvSpPr>
            <p:cNvPr id="11" name="object 7">
              <a:extLst>
                <a:ext uri="{FF2B5EF4-FFF2-40B4-BE49-F238E27FC236}">
                  <a16:creationId xmlns:a16="http://schemas.microsoft.com/office/drawing/2014/main" id="{59EE8E75-7002-B2EE-A284-003CC78C1C9C}"/>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2" name="object 9">
            <a:extLst>
              <a:ext uri="{FF2B5EF4-FFF2-40B4-BE49-F238E27FC236}">
                <a16:creationId xmlns:a16="http://schemas.microsoft.com/office/drawing/2014/main" id="{3D8AB4AC-D162-2D64-3FD4-21F01F6A1F19}"/>
              </a:ext>
            </a:extLst>
          </p:cNvPr>
          <p:cNvSpPr txBox="1">
            <a:spLocks noGrp="1"/>
          </p:cNvSpPr>
          <p:nvPr>
            <p:ph type="title"/>
          </p:nvPr>
        </p:nvSpPr>
        <p:spPr>
          <a:xfrm>
            <a:off x="3945255" y="432593"/>
            <a:ext cx="2167890" cy="327660"/>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CONCLUSION</a:t>
            </a:r>
          </a:p>
        </p:txBody>
      </p:sp>
      <p:pic>
        <p:nvPicPr>
          <p:cNvPr id="13" name="object 3">
            <a:extLst>
              <a:ext uri="{FF2B5EF4-FFF2-40B4-BE49-F238E27FC236}">
                <a16:creationId xmlns:a16="http://schemas.microsoft.com/office/drawing/2014/main" id="{4668E4A5-0B7E-EA10-DC0D-6DBBA1362D26}"/>
              </a:ext>
            </a:extLst>
          </p:cNvPr>
          <p:cNvPicPr/>
          <p:nvPr/>
        </p:nvPicPr>
        <p:blipFill>
          <a:blip r:embed="rId5" cstate="print"/>
          <a:stretch>
            <a:fillRect/>
          </a:stretch>
        </p:blipFill>
        <p:spPr>
          <a:xfrm>
            <a:off x="290750" y="204311"/>
            <a:ext cx="1163002" cy="424338"/>
          </a:xfrm>
          <a:prstGeom prst="rect">
            <a:avLst/>
          </a:prstGeom>
        </p:spPr>
      </p:pic>
    </p:spTree>
    <p:extLst>
      <p:ext uri="{BB962C8B-B14F-4D97-AF65-F5344CB8AC3E}">
        <p14:creationId xmlns:p14="http://schemas.microsoft.com/office/powerpoint/2010/main" val="35596444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0E808C-8614-D486-3C5B-BAEB409AF404}"/>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FDF9C2A4-6467-2ABE-7F4B-776CD9E9150D}"/>
              </a:ext>
            </a:extLst>
          </p:cNvPr>
          <p:cNvSpPr txBox="1"/>
          <p:nvPr/>
        </p:nvSpPr>
        <p:spPr>
          <a:xfrm>
            <a:off x="872251" y="1423788"/>
            <a:ext cx="8574881" cy="3693319"/>
          </a:xfrm>
          <a:prstGeom prst="rect">
            <a:avLst/>
          </a:prstGeom>
          <a:noFill/>
        </p:spPr>
        <p:txBody>
          <a:bodyPr wrap="square" rtlCol="0">
            <a:spAutoFit/>
          </a:bodyPr>
          <a:lstStyle/>
          <a:p>
            <a:pPr algn="just"/>
            <a:r>
              <a:rPr lang="en-US" sz="2600" dirty="0">
                <a:latin typeface="Times New Roman" panose="02020603050405020304" pitchFamily="18" charset="0"/>
                <a:cs typeface="Times New Roman" panose="02020603050405020304" pitchFamily="18" charset="0"/>
              </a:rPr>
              <a:t>The Library management data Analysis System provides an efficient and Organized way to manage library operations and analyze library data. The system helps maintain book and member records, track book issues and returns, monitor overdue books, and manage fines with less manual effort.</a:t>
            </a:r>
          </a:p>
          <a:p>
            <a:pPr algn="just"/>
            <a:endParaRPr lang="en-US" sz="2600" dirty="0">
              <a:latin typeface="Times New Roman" panose="02020603050405020304" pitchFamily="18" charset="0"/>
              <a:cs typeface="Times New Roman" panose="02020603050405020304" pitchFamily="18" charset="0"/>
            </a:endParaRPr>
          </a:p>
          <a:p>
            <a:pPr algn="just"/>
            <a:r>
              <a:rPr lang="en-US" sz="2600" dirty="0">
                <a:latin typeface="Times New Roman" panose="02020603050405020304" pitchFamily="18" charset="0"/>
                <a:cs typeface="Times New Roman" panose="02020603050405020304" pitchFamily="18" charset="0"/>
              </a:rPr>
              <a:t>Overall, the proposed system reduces paperwork, minimizes human errors, saves time, improves data management and provides useful insights for effective library administration.</a:t>
            </a:r>
            <a:endParaRPr lang="en-IN" sz="2600" dirty="0">
              <a:latin typeface="Times New Roman" panose="02020603050405020304" pitchFamily="18" charset="0"/>
              <a:cs typeface="Times New Roman" panose="02020603050405020304" pitchFamily="18" charset="0"/>
            </a:endParaRPr>
          </a:p>
        </p:txBody>
      </p:sp>
      <p:grpSp>
        <p:nvGrpSpPr>
          <p:cNvPr id="7" name="object 3">
            <a:extLst>
              <a:ext uri="{FF2B5EF4-FFF2-40B4-BE49-F238E27FC236}">
                <a16:creationId xmlns:a16="http://schemas.microsoft.com/office/drawing/2014/main" id="{9E8A2025-BDA1-B60D-3E33-BB497B98C414}"/>
              </a:ext>
            </a:extLst>
          </p:cNvPr>
          <p:cNvGrpSpPr/>
          <p:nvPr/>
        </p:nvGrpSpPr>
        <p:grpSpPr>
          <a:xfrm>
            <a:off x="2477248" y="152400"/>
            <a:ext cx="5103904" cy="1198311"/>
            <a:chOff x="2648188" y="47148"/>
            <a:chExt cx="5103904" cy="1198311"/>
          </a:xfrm>
        </p:grpSpPr>
        <p:pic>
          <p:nvPicPr>
            <p:cNvPr id="8" name="object 4">
              <a:extLst>
                <a:ext uri="{FF2B5EF4-FFF2-40B4-BE49-F238E27FC236}">
                  <a16:creationId xmlns:a16="http://schemas.microsoft.com/office/drawing/2014/main" id="{490F076A-CD3B-3ECC-9AAB-A028A56DA216}"/>
                </a:ext>
              </a:extLst>
            </p:cNvPr>
            <p:cNvPicPr/>
            <p:nvPr/>
          </p:nvPicPr>
          <p:blipFill>
            <a:blip r:embed="rId2" cstate="print"/>
            <a:stretch>
              <a:fillRect/>
            </a:stretch>
          </p:blipFill>
          <p:spPr>
            <a:xfrm>
              <a:off x="2648188" y="47148"/>
              <a:ext cx="5103904" cy="1198311"/>
            </a:xfrm>
            <a:prstGeom prst="rect">
              <a:avLst/>
            </a:prstGeom>
          </p:spPr>
        </p:pic>
        <p:pic>
          <p:nvPicPr>
            <p:cNvPr id="9" name="object 5">
              <a:extLst>
                <a:ext uri="{FF2B5EF4-FFF2-40B4-BE49-F238E27FC236}">
                  <a16:creationId xmlns:a16="http://schemas.microsoft.com/office/drawing/2014/main" id="{B496A65C-3650-089F-4C67-7AAA60C50F5E}"/>
                </a:ext>
              </a:extLst>
            </p:cNvPr>
            <p:cNvPicPr/>
            <p:nvPr/>
          </p:nvPicPr>
          <p:blipFill>
            <a:blip r:embed="rId3" cstate="print"/>
            <a:stretch>
              <a:fillRect/>
            </a:stretch>
          </p:blipFill>
          <p:spPr>
            <a:xfrm>
              <a:off x="2703195" y="86439"/>
              <a:ext cx="4997767" cy="1092279"/>
            </a:xfrm>
            <a:prstGeom prst="rect">
              <a:avLst/>
            </a:prstGeom>
          </p:spPr>
        </p:pic>
        <p:pic>
          <p:nvPicPr>
            <p:cNvPr id="10" name="object 6">
              <a:extLst>
                <a:ext uri="{FF2B5EF4-FFF2-40B4-BE49-F238E27FC236}">
                  <a16:creationId xmlns:a16="http://schemas.microsoft.com/office/drawing/2014/main" id="{77038D9F-F0EB-6683-E9AD-45692C75E63B}"/>
                </a:ext>
              </a:extLst>
            </p:cNvPr>
            <p:cNvPicPr/>
            <p:nvPr/>
          </p:nvPicPr>
          <p:blipFill>
            <a:blip r:embed="rId4" cstate="print"/>
            <a:stretch>
              <a:fillRect/>
            </a:stretch>
          </p:blipFill>
          <p:spPr>
            <a:xfrm>
              <a:off x="2828925" y="243549"/>
              <a:ext cx="4585268" cy="522565"/>
            </a:xfrm>
            <a:prstGeom prst="rect">
              <a:avLst/>
            </a:prstGeom>
          </p:spPr>
        </p:pic>
        <p:sp>
          <p:nvSpPr>
            <p:cNvPr id="11" name="object 7">
              <a:extLst>
                <a:ext uri="{FF2B5EF4-FFF2-40B4-BE49-F238E27FC236}">
                  <a16:creationId xmlns:a16="http://schemas.microsoft.com/office/drawing/2014/main" id="{CA2AB5BB-63EA-D8BA-3B67-217132B2AC53}"/>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2" name="object 9">
            <a:extLst>
              <a:ext uri="{FF2B5EF4-FFF2-40B4-BE49-F238E27FC236}">
                <a16:creationId xmlns:a16="http://schemas.microsoft.com/office/drawing/2014/main" id="{04E8F930-9E8E-3375-3DEF-3A4270CBD8E5}"/>
              </a:ext>
            </a:extLst>
          </p:cNvPr>
          <p:cNvSpPr txBox="1">
            <a:spLocks noGrp="1"/>
          </p:cNvSpPr>
          <p:nvPr>
            <p:ph type="title"/>
          </p:nvPr>
        </p:nvSpPr>
        <p:spPr>
          <a:xfrm>
            <a:off x="3945255" y="432593"/>
            <a:ext cx="2167890" cy="327660"/>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CONCLUSION</a:t>
            </a:r>
          </a:p>
        </p:txBody>
      </p:sp>
      <p:pic>
        <p:nvPicPr>
          <p:cNvPr id="13" name="object 3">
            <a:extLst>
              <a:ext uri="{FF2B5EF4-FFF2-40B4-BE49-F238E27FC236}">
                <a16:creationId xmlns:a16="http://schemas.microsoft.com/office/drawing/2014/main" id="{87E3818F-41A0-E11E-AB53-ECBA4395EBF7}"/>
              </a:ext>
            </a:extLst>
          </p:cNvPr>
          <p:cNvPicPr/>
          <p:nvPr/>
        </p:nvPicPr>
        <p:blipFill>
          <a:blip r:embed="rId5" cstate="print"/>
          <a:stretch>
            <a:fillRect/>
          </a:stretch>
        </p:blipFill>
        <p:spPr>
          <a:xfrm>
            <a:off x="290750" y="204311"/>
            <a:ext cx="1163002" cy="424338"/>
          </a:xfrm>
          <a:prstGeom prst="rect">
            <a:avLst/>
          </a:prstGeom>
        </p:spPr>
      </p:pic>
    </p:spTree>
    <p:extLst>
      <p:ext uri="{BB962C8B-B14F-4D97-AF65-F5344CB8AC3E}">
        <p14:creationId xmlns:p14="http://schemas.microsoft.com/office/powerpoint/2010/main" val="5688534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414AAE-0CAC-3036-F854-D5046924B302}"/>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070CE0CC-B6FF-3080-555B-FC89DD513C4E}"/>
              </a:ext>
            </a:extLst>
          </p:cNvPr>
          <p:cNvSpPr txBox="1"/>
          <p:nvPr/>
        </p:nvSpPr>
        <p:spPr>
          <a:xfrm>
            <a:off x="872251" y="1423788"/>
            <a:ext cx="8574881" cy="3693319"/>
          </a:xfrm>
          <a:prstGeom prst="rect">
            <a:avLst/>
          </a:prstGeom>
          <a:noFill/>
        </p:spPr>
        <p:txBody>
          <a:bodyPr wrap="square" rtlCol="0">
            <a:spAutoFit/>
          </a:bodyPr>
          <a:lstStyle/>
          <a:p>
            <a:pPr algn="just"/>
            <a:r>
              <a:rPr lang="en-US" sz="2600" dirty="0">
                <a:latin typeface="Times New Roman" panose="02020603050405020304" pitchFamily="18" charset="0"/>
                <a:cs typeface="Times New Roman" panose="02020603050405020304" pitchFamily="18" charset="0"/>
              </a:rPr>
              <a:t>The Library management data Analysis System provides an efficient and Organized way to manage library operations and analyze library data. The system helps maintain book and member records, track book issues and returns, monitor overdue books, and manage fines with less manual effort.</a:t>
            </a:r>
          </a:p>
          <a:p>
            <a:pPr algn="just"/>
            <a:endParaRPr lang="en-US" sz="2600" dirty="0">
              <a:latin typeface="Times New Roman" panose="02020603050405020304" pitchFamily="18" charset="0"/>
              <a:cs typeface="Times New Roman" panose="02020603050405020304" pitchFamily="18" charset="0"/>
            </a:endParaRPr>
          </a:p>
          <a:p>
            <a:pPr algn="just"/>
            <a:r>
              <a:rPr lang="en-US" sz="2600" dirty="0">
                <a:latin typeface="Times New Roman" panose="02020603050405020304" pitchFamily="18" charset="0"/>
                <a:cs typeface="Times New Roman" panose="02020603050405020304" pitchFamily="18" charset="0"/>
              </a:rPr>
              <a:t>Overall, the proposed system reduces paperwork, minimizes human errors, saves time, improves data management and provides useful insights for effective library administration.</a:t>
            </a:r>
            <a:endParaRPr lang="en-IN" sz="2600" dirty="0">
              <a:latin typeface="Times New Roman" panose="02020603050405020304" pitchFamily="18" charset="0"/>
              <a:cs typeface="Times New Roman" panose="02020603050405020304" pitchFamily="18" charset="0"/>
            </a:endParaRPr>
          </a:p>
        </p:txBody>
      </p:sp>
      <p:grpSp>
        <p:nvGrpSpPr>
          <p:cNvPr id="7" name="object 3">
            <a:extLst>
              <a:ext uri="{FF2B5EF4-FFF2-40B4-BE49-F238E27FC236}">
                <a16:creationId xmlns:a16="http://schemas.microsoft.com/office/drawing/2014/main" id="{C03952E4-3DB3-0BC4-0C4D-E7B0599EAAA0}"/>
              </a:ext>
            </a:extLst>
          </p:cNvPr>
          <p:cNvGrpSpPr/>
          <p:nvPr/>
        </p:nvGrpSpPr>
        <p:grpSpPr>
          <a:xfrm>
            <a:off x="2477248" y="152400"/>
            <a:ext cx="5103904" cy="1198311"/>
            <a:chOff x="2648188" y="47148"/>
            <a:chExt cx="5103904" cy="1198311"/>
          </a:xfrm>
        </p:grpSpPr>
        <p:pic>
          <p:nvPicPr>
            <p:cNvPr id="8" name="object 4">
              <a:extLst>
                <a:ext uri="{FF2B5EF4-FFF2-40B4-BE49-F238E27FC236}">
                  <a16:creationId xmlns:a16="http://schemas.microsoft.com/office/drawing/2014/main" id="{10DAD5B0-BE5D-ED77-BD6D-ECACEC2EF2D2}"/>
                </a:ext>
              </a:extLst>
            </p:cNvPr>
            <p:cNvPicPr/>
            <p:nvPr/>
          </p:nvPicPr>
          <p:blipFill>
            <a:blip r:embed="rId2" cstate="print"/>
            <a:stretch>
              <a:fillRect/>
            </a:stretch>
          </p:blipFill>
          <p:spPr>
            <a:xfrm>
              <a:off x="2648188" y="47148"/>
              <a:ext cx="5103904" cy="1198311"/>
            </a:xfrm>
            <a:prstGeom prst="rect">
              <a:avLst/>
            </a:prstGeom>
          </p:spPr>
        </p:pic>
        <p:pic>
          <p:nvPicPr>
            <p:cNvPr id="9" name="object 5">
              <a:extLst>
                <a:ext uri="{FF2B5EF4-FFF2-40B4-BE49-F238E27FC236}">
                  <a16:creationId xmlns:a16="http://schemas.microsoft.com/office/drawing/2014/main" id="{C90A46D4-E4D5-AF5B-99B4-4E2B42F674E4}"/>
                </a:ext>
              </a:extLst>
            </p:cNvPr>
            <p:cNvPicPr/>
            <p:nvPr/>
          </p:nvPicPr>
          <p:blipFill>
            <a:blip r:embed="rId3" cstate="print"/>
            <a:stretch>
              <a:fillRect/>
            </a:stretch>
          </p:blipFill>
          <p:spPr>
            <a:xfrm>
              <a:off x="2703195" y="86439"/>
              <a:ext cx="4997767" cy="1092279"/>
            </a:xfrm>
            <a:prstGeom prst="rect">
              <a:avLst/>
            </a:prstGeom>
          </p:spPr>
        </p:pic>
        <p:pic>
          <p:nvPicPr>
            <p:cNvPr id="10" name="object 6">
              <a:extLst>
                <a:ext uri="{FF2B5EF4-FFF2-40B4-BE49-F238E27FC236}">
                  <a16:creationId xmlns:a16="http://schemas.microsoft.com/office/drawing/2014/main" id="{D9166AEE-98D9-E9CB-C9A4-550E1E662C61}"/>
                </a:ext>
              </a:extLst>
            </p:cNvPr>
            <p:cNvPicPr/>
            <p:nvPr/>
          </p:nvPicPr>
          <p:blipFill>
            <a:blip r:embed="rId4" cstate="print"/>
            <a:stretch>
              <a:fillRect/>
            </a:stretch>
          </p:blipFill>
          <p:spPr>
            <a:xfrm>
              <a:off x="2828925" y="243549"/>
              <a:ext cx="4585268" cy="522565"/>
            </a:xfrm>
            <a:prstGeom prst="rect">
              <a:avLst/>
            </a:prstGeom>
          </p:spPr>
        </p:pic>
        <p:sp>
          <p:nvSpPr>
            <p:cNvPr id="11" name="object 7">
              <a:extLst>
                <a:ext uri="{FF2B5EF4-FFF2-40B4-BE49-F238E27FC236}">
                  <a16:creationId xmlns:a16="http://schemas.microsoft.com/office/drawing/2014/main" id="{1C9FDFF1-F32A-82C2-3056-DE325DA1BE68}"/>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2" name="object 9">
            <a:extLst>
              <a:ext uri="{FF2B5EF4-FFF2-40B4-BE49-F238E27FC236}">
                <a16:creationId xmlns:a16="http://schemas.microsoft.com/office/drawing/2014/main" id="{D0314A1D-E315-69CC-B892-8D9CC4AC277C}"/>
              </a:ext>
            </a:extLst>
          </p:cNvPr>
          <p:cNvSpPr txBox="1">
            <a:spLocks noGrp="1"/>
          </p:cNvSpPr>
          <p:nvPr>
            <p:ph type="title"/>
          </p:nvPr>
        </p:nvSpPr>
        <p:spPr>
          <a:xfrm>
            <a:off x="3945255" y="432593"/>
            <a:ext cx="2167890" cy="327660"/>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CONCLUSION</a:t>
            </a:r>
          </a:p>
        </p:txBody>
      </p:sp>
      <p:pic>
        <p:nvPicPr>
          <p:cNvPr id="13" name="object 3">
            <a:extLst>
              <a:ext uri="{FF2B5EF4-FFF2-40B4-BE49-F238E27FC236}">
                <a16:creationId xmlns:a16="http://schemas.microsoft.com/office/drawing/2014/main" id="{97F9E0E6-84FE-7F4C-1784-1FA0EF3D8864}"/>
              </a:ext>
            </a:extLst>
          </p:cNvPr>
          <p:cNvPicPr/>
          <p:nvPr/>
        </p:nvPicPr>
        <p:blipFill>
          <a:blip r:embed="rId5" cstate="print"/>
          <a:stretch>
            <a:fillRect/>
          </a:stretch>
        </p:blipFill>
        <p:spPr>
          <a:xfrm>
            <a:off x="290750" y="204311"/>
            <a:ext cx="1163002" cy="424338"/>
          </a:xfrm>
          <a:prstGeom prst="rect">
            <a:avLst/>
          </a:prstGeom>
        </p:spPr>
      </p:pic>
    </p:spTree>
    <p:extLst>
      <p:ext uri="{BB962C8B-B14F-4D97-AF65-F5344CB8AC3E}">
        <p14:creationId xmlns:p14="http://schemas.microsoft.com/office/powerpoint/2010/main" val="30314741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E72A28-9383-5FD9-CA13-41EA2405BAC1}"/>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A529984F-A74C-A888-81E5-E3897DF585A3}"/>
              </a:ext>
            </a:extLst>
          </p:cNvPr>
          <p:cNvSpPr txBox="1"/>
          <p:nvPr/>
        </p:nvSpPr>
        <p:spPr>
          <a:xfrm>
            <a:off x="872251" y="1423788"/>
            <a:ext cx="8574881" cy="3693319"/>
          </a:xfrm>
          <a:prstGeom prst="rect">
            <a:avLst/>
          </a:prstGeom>
          <a:noFill/>
        </p:spPr>
        <p:txBody>
          <a:bodyPr wrap="square" rtlCol="0">
            <a:spAutoFit/>
          </a:bodyPr>
          <a:lstStyle/>
          <a:p>
            <a:pPr algn="just"/>
            <a:r>
              <a:rPr lang="en-US" sz="2600" dirty="0">
                <a:latin typeface="Times New Roman" panose="02020603050405020304" pitchFamily="18" charset="0"/>
                <a:cs typeface="Times New Roman" panose="02020603050405020304" pitchFamily="18" charset="0"/>
              </a:rPr>
              <a:t>The Library management data Analysis System provides an efficient and Organized way to manage library operations and analyze library data. The system helps maintain book and member records, track book issues and returns, monitor overdue books, and manage fines with less manual effort.</a:t>
            </a:r>
          </a:p>
          <a:p>
            <a:pPr algn="just"/>
            <a:endParaRPr lang="en-US" sz="2600" dirty="0">
              <a:latin typeface="Times New Roman" panose="02020603050405020304" pitchFamily="18" charset="0"/>
              <a:cs typeface="Times New Roman" panose="02020603050405020304" pitchFamily="18" charset="0"/>
            </a:endParaRPr>
          </a:p>
          <a:p>
            <a:pPr algn="just"/>
            <a:r>
              <a:rPr lang="en-US" sz="2600" dirty="0">
                <a:latin typeface="Times New Roman" panose="02020603050405020304" pitchFamily="18" charset="0"/>
                <a:cs typeface="Times New Roman" panose="02020603050405020304" pitchFamily="18" charset="0"/>
              </a:rPr>
              <a:t>Overall, the proposed system reduces paperwork, minimizes human errors, saves time, improves data management and provides useful insights for effective library administration.</a:t>
            </a:r>
            <a:endParaRPr lang="en-IN" sz="2600" dirty="0">
              <a:latin typeface="Times New Roman" panose="02020603050405020304" pitchFamily="18" charset="0"/>
              <a:cs typeface="Times New Roman" panose="02020603050405020304" pitchFamily="18" charset="0"/>
            </a:endParaRPr>
          </a:p>
        </p:txBody>
      </p:sp>
      <p:grpSp>
        <p:nvGrpSpPr>
          <p:cNvPr id="7" name="object 3">
            <a:extLst>
              <a:ext uri="{FF2B5EF4-FFF2-40B4-BE49-F238E27FC236}">
                <a16:creationId xmlns:a16="http://schemas.microsoft.com/office/drawing/2014/main" id="{6C8C2673-69DB-712B-07BA-9F836637B90C}"/>
              </a:ext>
            </a:extLst>
          </p:cNvPr>
          <p:cNvGrpSpPr/>
          <p:nvPr/>
        </p:nvGrpSpPr>
        <p:grpSpPr>
          <a:xfrm>
            <a:off x="2477248" y="152400"/>
            <a:ext cx="5103904" cy="1198311"/>
            <a:chOff x="2648188" y="47148"/>
            <a:chExt cx="5103904" cy="1198311"/>
          </a:xfrm>
        </p:grpSpPr>
        <p:pic>
          <p:nvPicPr>
            <p:cNvPr id="8" name="object 4">
              <a:extLst>
                <a:ext uri="{FF2B5EF4-FFF2-40B4-BE49-F238E27FC236}">
                  <a16:creationId xmlns:a16="http://schemas.microsoft.com/office/drawing/2014/main" id="{0ECA6035-C381-3C65-DD43-EB23D35883AD}"/>
                </a:ext>
              </a:extLst>
            </p:cNvPr>
            <p:cNvPicPr/>
            <p:nvPr/>
          </p:nvPicPr>
          <p:blipFill>
            <a:blip r:embed="rId2" cstate="print"/>
            <a:stretch>
              <a:fillRect/>
            </a:stretch>
          </p:blipFill>
          <p:spPr>
            <a:xfrm>
              <a:off x="2648188" y="47148"/>
              <a:ext cx="5103904" cy="1198311"/>
            </a:xfrm>
            <a:prstGeom prst="rect">
              <a:avLst/>
            </a:prstGeom>
          </p:spPr>
        </p:pic>
        <p:pic>
          <p:nvPicPr>
            <p:cNvPr id="9" name="object 5">
              <a:extLst>
                <a:ext uri="{FF2B5EF4-FFF2-40B4-BE49-F238E27FC236}">
                  <a16:creationId xmlns:a16="http://schemas.microsoft.com/office/drawing/2014/main" id="{10AFB334-B162-8121-4444-2F7C29C39D92}"/>
                </a:ext>
              </a:extLst>
            </p:cNvPr>
            <p:cNvPicPr/>
            <p:nvPr/>
          </p:nvPicPr>
          <p:blipFill>
            <a:blip r:embed="rId3" cstate="print"/>
            <a:stretch>
              <a:fillRect/>
            </a:stretch>
          </p:blipFill>
          <p:spPr>
            <a:xfrm>
              <a:off x="2703195" y="86439"/>
              <a:ext cx="4997767" cy="1092279"/>
            </a:xfrm>
            <a:prstGeom prst="rect">
              <a:avLst/>
            </a:prstGeom>
          </p:spPr>
        </p:pic>
        <p:pic>
          <p:nvPicPr>
            <p:cNvPr id="10" name="object 6">
              <a:extLst>
                <a:ext uri="{FF2B5EF4-FFF2-40B4-BE49-F238E27FC236}">
                  <a16:creationId xmlns:a16="http://schemas.microsoft.com/office/drawing/2014/main" id="{76E8C2FE-71BB-D463-A7BF-814125061443}"/>
                </a:ext>
              </a:extLst>
            </p:cNvPr>
            <p:cNvPicPr/>
            <p:nvPr/>
          </p:nvPicPr>
          <p:blipFill>
            <a:blip r:embed="rId4" cstate="print"/>
            <a:stretch>
              <a:fillRect/>
            </a:stretch>
          </p:blipFill>
          <p:spPr>
            <a:xfrm>
              <a:off x="2828925" y="243549"/>
              <a:ext cx="4585268" cy="522565"/>
            </a:xfrm>
            <a:prstGeom prst="rect">
              <a:avLst/>
            </a:prstGeom>
          </p:spPr>
        </p:pic>
        <p:sp>
          <p:nvSpPr>
            <p:cNvPr id="11" name="object 7">
              <a:extLst>
                <a:ext uri="{FF2B5EF4-FFF2-40B4-BE49-F238E27FC236}">
                  <a16:creationId xmlns:a16="http://schemas.microsoft.com/office/drawing/2014/main" id="{B13E2BC0-E1DD-F3AF-9166-5AFA805BD91F}"/>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2" name="object 9">
            <a:extLst>
              <a:ext uri="{FF2B5EF4-FFF2-40B4-BE49-F238E27FC236}">
                <a16:creationId xmlns:a16="http://schemas.microsoft.com/office/drawing/2014/main" id="{5C46822D-B684-6F7A-7463-629FB7D0666B}"/>
              </a:ext>
            </a:extLst>
          </p:cNvPr>
          <p:cNvSpPr txBox="1">
            <a:spLocks noGrp="1"/>
          </p:cNvSpPr>
          <p:nvPr>
            <p:ph type="title"/>
          </p:nvPr>
        </p:nvSpPr>
        <p:spPr>
          <a:xfrm>
            <a:off x="3945255" y="432593"/>
            <a:ext cx="2167890" cy="327660"/>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CONCLUSION</a:t>
            </a:r>
          </a:p>
        </p:txBody>
      </p:sp>
      <p:pic>
        <p:nvPicPr>
          <p:cNvPr id="13" name="object 3">
            <a:extLst>
              <a:ext uri="{FF2B5EF4-FFF2-40B4-BE49-F238E27FC236}">
                <a16:creationId xmlns:a16="http://schemas.microsoft.com/office/drawing/2014/main" id="{F97DA04C-8385-ADB8-9516-C6A59D91AC31}"/>
              </a:ext>
            </a:extLst>
          </p:cNvPr>
          <p:cNvPicPr/>
          <p:nvPr/>
        </p:nvPicPr>
        <p:blipFill>
          <a:blip r:embed="rId5" cstate="print"/>
          <a:stretch>
            <a:fillRect/>
          </a:stretch>
        </p:blipFill>
        <p:spPr>
          <a:xfrm>
            <a:off x="290750" y="204311"/>
            <a:ext cx="1163002" cy="424338"/>
          </a:xfrm>
          <a:prstGeom prst="rect">
            <a:avLst/>
          </a:prstGeom>
        </p:spPr>
      </p:pic>
    </p:spTree>
    <p:extLst>
      <p:ext uri="{BB962C8B-B14F-4D97-AF65-F5344CB8AC3E}">
        <p14:creationId xmlns:p14="http://schemas.microsoft.com/office/powerpoint/2010/main" val="9469400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114EC9-C025-2F25-BCF5-90513D9E5C33}"/>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9D5FCBC6-3E2B-0C32-4A5D-882FCD6B2D04}"/>
              </a:ext>
            </a:extLst>
          </p:cNvPr>
          <p:cNvSpPr txBox="1"/>
          <p:nvPr/>
        </p:nvSpPr>
        <p:spPr>
          <a:xfrm>
            <a:off x="872251" y="1423788"/>
            <a:ext cx="8574881" cy="3693319"/>
          </a:xfrm>
          <a:prstGeom prst="rect">
            <a:avLst/>
          </a:prstGeom>
          <a:noFill/>
        </p:spPr>
        <p:txBody>
          <a:bodyPr wrap="square" rtlCol="0">
            <a:spAutoFit/>
          </a:bodyPr>
          <a:lstStyle/>
          <a:p>
            <a:pPr algn="just"/>
            <a:r>
              <a:rPr lang="en-US" sz="2600" dirty="0">
                <a:latin typeface="Times New Roman" panose="02020603050405020304" pitchFamily="18" charset="0"/>
                <a:cs typeface="Times New Roman" panose="02020603050405020304" pitchFamily="18" charset="0"/>
              </a:rPr>
              <a:t>The Library management data Analysis System provides an efficient and Organized way to manage library operations and analyze library data. The system helps maintain book and member records, track book issues and returns, monitor overdue books, and manage fines with less manual effort.</a:t>
            </a:r>
          </a:p>
          <a:p>
            <a:pPr algn="just"/>
            <a:endParaRPr lang="en-US" sz="2600" dirty="0">
              <a:latin typeface="Times New Roman" panose="02020603050405020304" pitchFamily="18" charset="0"/>
              <a:cs typeface="Times New Roman" panose="02020603050405020304" pitchFamily="18" charset="0"/>
            </a:endParaRPr>
          </a:p>
          <a:p>
            <a:pPr algn="just"/>
            <a:r>
              <a:rPr lang="en-US" sz="2600" dirty="0">
                <a:latin typeface="Times New Roman" panose="02020603050405020304" pitchFamily="18" charset="0"/>
                <a:cs typeface="Times New Roman" panose="02020603050405020304" pitchFamily="18" charset="0"/>
              </a:rPr>
              <a:t>Overall, the proposed system reduces paperwork, minimizes human errors, saves time, improves data management and provides useful insights for effective library administration.</a:t>
            </a:r>
            <a:endParaRPr lang="en-IN" sz="2600" dirty="0">
              <a:latin typeface="Times New Roman" panose="02020603050405020304" pitchFamily="18" charset="0"/>
              <a:cs typeface="Times New Roman" panose="02020603050405020304" pitchFamily="18" charset="0"/>
            </a:endParaRPr>
          </a:p>
        </p:txBody>
      </p:sp>
      <p:grpSp>
        <p:nvGrpSpPr>
          <p:cNvPr id="7" name="object 3">
            <a:extLst>
              <a:ext uri="{FF2B5EF4-FFF2-40B4-BE49-F238E27FC236}">
                <a16:creationId xmlns:a16="http://schemas.microsoft.com/office/drawing/2014/main" id="{4D8AE224-72FF-D08D-5C26-161BEC54CF60}"/>
              </a:ext>
            </a:extLst>
          </p:cNvPr>
          <p:cNvGrpSpPr/>
          <p:nvPr/>
        </p:nvGrpSpPr>
        <p:grpSpPr>
          <a:xfrm>
            <a:off x="2477248" y="152400"/>
            <a:ext cx="5103904" cy="1198311"/>
            <a:chOff x="2648188" y="47148"/>
            <a:chExt cx="5103904" cy="1198311"/>
          </a:xfrm>
        </p:grpSpPr>
        <p:pic>
          <p:nvPicPr>
            <p:cNvPr id="8" name="object 4">
              <a:extLst>
                <a:ext uri="{FF2B5EF4-FFF2-40B4-BE49-F238E27FC236}">
                  <a16:creationId xmlns:a16="http://schemas.microsoft.com/office/drawing/2014/main" id="{CCBD0730-5D07-A00D-7998-B2912F585AE3}"/>
                </a:ext>
              </a:extLst>
            </p:cNvPr>
            <p:cNvPicPr/>
            <p:nvPr/>
          </p:nvPicPr>
          <p:blipFill>
            <a:blip r:embed="rId2" cstate="print"/>
            <a:stretch>
              <a:fillRect/>
            </a:stretch>
          </p:blipFill>
          <p:spPr>
            <a:xfrm>
              <a:off x="2648188" y="47148"/>
              <a:ext cx="5103904" cy="1198311"/>
            </a:xfrm>
            <a:prstGeom prst="rect">
              <a:avLst/>
            </a:prstGeom>
          </p:spPr>
        </p:pic>
        <p:pic>
          <p:nvPicPr>
            <p:cNvPr id="9" name="object 5">
              <a:extLst>
                <a:ext uri="{FF2B5EF4-FFF2-40B4-BE49-F238E27FC236}">
                  <a16:creationId xmlns:a16="http://schemas.microsoft.com/office/drawing/2014/main" id="{9A7D42E2-7173-CAE9-8A2A-2CFB92793ADE}"/>
                </a:ext>
              </a:extLst>
            </p:cNvPr>
            <p:cNvPicPr/>
            <p:nvPr/>
          </p:nvPicPr>
          <p:blipFill>
            <a:blip r:embed="rId3" cstate="print"/>
            <a:stretch>
              <a:fillRect/>
            </a:stretch>
          </p:blipFill>
          <p:spPr>
            <a:xfrm>
              <a:off x="2703195" y="86439"/>
              <a:ext cx="4997767" cy="1092279"/>
            </a:xfrm>
            <a:prstGeom prst="rect">
              <a:avLst/>
            </a:prstGeom>
          </p:spPr>
        </p:pic>
        <p:pic>
          <p:nvPicPr>
            <p:cNvPr id="10" name="object 6">
              <a:extLst>
                <a:ext uri="{FF2B5EF4-FFF2-40B4-BE49-F238E27FC236}">
                  <a16:creationId xmlns:a16="http://schemas.microsoft.com/office/drawing/2014/main" id="{BAC8DC5D-0AD9-770B-534F-AEBBF9570F82}"/>
                </a:ext>
              </a:extLst>
            </p:cNvPr>
            <p:cNvPicPr/>
            <p:nvPr/>
          </p:nvPicPr>
          <p:blipFill>
            <a:blip r:embed="rId4" cstate="print"/>
            <a:stretch>
              <a:fillRect/>
            </a:stretch>
          </p:blipFill>
          <p:spPr>
            <a:xfrm>
              <a:off x="2828925" y="243549"/>
              <a:ext cx="4585268" cy="522565"/>
            </a:xfrm>
            <a:prstGeom prst="rect">
              <a:avLst/>
            </a:prstGeom>
          </p:spPr>
        </p:pic>
        <p:sp>
          <p:nvSpPr>
            <p:cNvPr id="11" name="object 7">
              <a:extLst>
                <a:ext uri="{FF2B5EF4-FFF2-40B4-BE49-F238E27FC236}">
                  <a16:creationId xmlns:a16="http://schemas.microsoft.com/office/drawing/2014/main" id="{9EAB4E79-49C1-95AA-7F90-61C54DB67319}"/>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2" name="object 9">
            <a:extLst>
              <a:ext uri="{FF2B5EF4-FFF2-40B4-BE49-F238E27FC236}">
                <a16:creationId xmlns:a16="http://schemas.microsoft.com/office/drawing/2014/main" id="{CB94A2F5-2479-3E22-2797-C5DD40DC6216}"/>
              </a:ext>
            </a:extLst>
          </p:cNvPr>
          <p:cNvSpPr txBox="1">
            <a:spLocks noGrp="1"/>
          </p:cNvSpPr>
          <p:nvPr>
            <p:ph type="title"/>
          </p:nvPr>
        </p:nvSpPr>
        <p:spPr>
          <a:xfrm>
            <a:off x="3945255" y="432593"/>
            <a:ext cx="2167890" cy="327660"/>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CONCLUSION</a:t>
            </a:r>
          </a:p>
        </p:txBody>
      </p:sp>
      <p:pic>
        <p:nvPicPr>
          <p:cNvPr id="13" name="object 3">
            <a:extLst>
              <a:ext uri="{FF2B5EF4-FFF2-40B4-BE49-F238E27FC236}">
                <a16:creationId xmlns:a16="http://schemas.microsoft.com/office/drawing/2014/main" id="{3AAD483F-137B-5372-7FD2-252E5B0F0BD1}"/>
              </a:ext>
            </a:extLst>
          </p:cNvPr>
          <p:cNvPicPr/>
          <p:nvPr/>
        </p:nvPicPr>
        <p:blipFill>
          <a:blip r:embed="rId5" cstate="print"/>
          <a:stretch>
            <a:fillRect/>
          </a:stretch>
        </p:blipFill>
        <p:spPr>
          <a:xfrm>
            <a:off x="290750" y="204311"/>
            <a:ext cx="1163002" cy="424338"/>
          </a:xfrm>
          <a:prstGeom prst="rect">
            <a:avLst/>
          </a:prstGeom>
        </p:spPr>
      </p:pic>
    </p:spTree>
    <p:extLst>
      <p:ext uri="{BB962C8B-B14F-4D97-AF65-F5344CB8AC3E}">
        <p14:creationId xmlns:p14="http://schemas.microsoft.com/office/powerpoint/2010/main" val="34307214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16B0FC-20A5-7555-337C-42DE199D1A9B}"/>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56AFA4E2-9C29-4EAF-8D11-AB22AB05DDBC}"/>
              </a:ext>
            </a:extLst>
          </p:cNvPr>
          <p:cNvSpPr txBox="1"/>
          <p:nvPr/>
        </p:nvSpPr>
        <p:spPr>
          <a:xfrm>
            <a:off x="872251" y="1423788"/>
            <a:ext cx="8574881" cy="3693319"/>
          </a:xfrm>
          <a:prstGeom prst="rect">
            <a:avLst/>
          </a:prstGeom>
          <a:noFill/>
        </p:spPr>
        <p:txBody>
          <a:bodyPr wrap="square" rtlCol="0">
            <a:spAutoFit/>
          </a:bodyPr>
          <a:lstStyle/>
          <a:p>
            <a:pPr algn="just"/>
            <a:r>
              <a:rPr lang="en-US" sz="2600" dirty="0">
                <a:latin typeface="Times New Roman" panose="02020603050405020304" pitchFamily="18" charset="0"/>
                <a:cs typeface="Times New Roman" panose="02020603050405020304" pitchFamily="18" charset="0"/>
              </a:rPr>
              <a:t>The Library management data Analysis System provides an efficient and Organized way to manage library operations and analyze library data. The system helps maintain book and member records, track book issues and returns, monitor overdue books, and manage fines with less manual effort.</a:t>
            </a:r>
          </a:p>
          <a:p>
            <a:pPr algn="just"/>
            <a:endParaRPr lang="en-US" sz="2600" dirty="0">
              <a:latin typeface="Times New Roman" panose="02020603050405020304" pitchFamily="18" charset="0"/>
              <a:cs typeface="Times New Roman" panose="02020603050405020304" pitchFamily="18" charset="0"/>
            </a:endParaRPr>
          </a:p>
          <a:p>
            <a:pPr algn="just"/>
            <a:r>
              <a:rPr lang="en-US" sz="2600" dirty="0">
                <a:latin typeface="Times New Roman" panose="02020603050405020304" pitchFamily="18" charset="0"/>
                <a:cs typeface="Times New Roman" panose="02020603050405020304" pitchFamily="18" charset="0"/>
              </a:rPr>
              <a:t>Overall, the proposed system reduces paperwork, minimizes human errors, saves time, improves data management and provides useful insights for effective library administration.</a:t>
            </a:r>
            <a:endParaRPr lang="en-IN" sz="2600" dirty="0">
              <a:latin typeface="Times New Roman" panose="02020603050405020304" pitchFamily="18" charset="0"/>
              <a:cs typeface="Times New Roman" panose="02020603050405020304" pitchFamily="18" charset="0"/>
            </a:endParaRPr>
          </a:p>
        </p:txBody>
      </p:sp>
      <p:grpSp>
        <p:nvGrpSpPr>
          <p:cNvPr id="7" name="object 3">
            <a:extLst>
              <a:ext uri="{FF2B5EF4-FFF2-40B4-BE49-F238E27FC236}">
                <a16:creationId xmlns:a16="http://schemas.microsoft.com/office/drawing/2014/main" id="{A43EB91F-C58F-9B13-E376-36BBDC0ACA74}"/>
              </a:ext>
            </a:extLst>
          </p:cNvPr>
          <p:cNvGrpSpPr/>
          <p:nvPr/>
        </p:nvGrpSpPr>
        <p:grpSpPr>
          <a:xfrm>
            <a:off x="2477248" y="152400"/>
            <a:ext cx="5103904" cy="1198311"/>
            <a:chOff x="2648188" y="47148"/>
            <a:chExt cx="5103904" cy="1198311"/>
          </a:xfrm>
        </p:grpSpPr>
        <p:pic>
          <p:nvPicPr>
            <p:cNvPr id="8" name="object 4">
              <a:extLst>
                <a:ext uri="{FF2B5EF4-FFF2-40B4-BE49-F238E27FC236}">
                  <a16:creationId xmlns:a16="http://schemas.microsoft.com/office/drawing/2014/main" id="{507163CD-1B53-A083-34FC-8D52E3640E63}"/>
                </a:ext>
              </a:extLst>
            </p:cNvPr>
            <p:cNvPicPr/>
            <p:nvPr/>
          </p:nvPicPr>
          <p:blipFill>
            <a:blip r:embed="rId2" cstate="print"/>
            <a:stretch>
              <a:fillRect/>
            </a:stretch>
          </p:blipFill>
          <p:spPr>
            <a:xfrm>
              <a:off x="2648188" y="47148"/>
              <a:ext cx="5103904" cy="1198311"/>
            </a:xfrm>
            <a:prstGeom prst="rect">
              <a:avLst/>
            </a:prstGeom>
          </p:spPr>
        </p:pic>
        <p:pic>
          <p:nvPicPr>
            <p:cNvPr id="9" name="object 5">
              <a:extLst>
                <a:ext uri="{FF2B5EF4-FFF2-40B4-BE49-F238E27FC236}">
                  <a16:creationId xmlns:a16="http://schemas.microsoft.com/office/drawing/2014/main" id="{FFE01A7F-5EDF-9967-7A15-6BD3F0E96CC4}"/>
                </a:ext>
              </a:extLst>
            </p:cNvPr>
            <p:cNvPicPr/>
            <p:nvPr/>
          </p:nvPicPr>
          <p:blipFill>
            <a:blip r:embed="rId3" cstate="print"/>
            <a:stretch>
              <a:fillRect/>
            </a:stretch>
          </p:blipFill>
          <p:spPr>
            <a:xfrm>
              <a:off x="2703195" y="86439"/>
              <a:ext cx="4997767" cy="1092279"/>
            </a:xfrm>
            <a:prstGeom prst="rect">
              <a:avLst/>
            </a:prstGeom>
          </p:spPr>
        </p:pic>
        <p:pic>
          <p:nvPicPr>
            <p:cNvPr id="10" name="object 6">
              <a:extLst>
                <a:ext uri="{FF2B5EF4-FFF2-40B4-BE49-F238E27FC236}">
                  <a16:creationId xmlns:a16="http://schemas.microsoft.com/office/drawing/2014/main" id="{58B0567F-96B8-5056-4F71-AF4021C11711}"/>
                </a:ext>
              </a:extLst>
            </p:cNvPr>
            <p:cNvPicPr/>
            <p:nvPr/>
          </p:nvPicPr>
          <p:blipFill>
            <a:blip r:embed="rId4" cstate="print"/>
            <a:stretch>
              <a:fillRect/>
            </a:stretch>
          </p:blipFill>
          <p:spPr>
            <a:xfrm>
              <a:off x="2828925" y="243549"/>
              <a:ext cx="4585268" cy="522565"/>
            </a:xfrm>
            <a:prstGeom prst="rect">
              <a:avLst/>
            </a:prstGeom>
          </p:spPr>
        </p:pic>
        <p:sp>
          <p:nvSpPr>
            <p:cNvPr id="11" name="object 7">
              <a:extLst>
                <a:ext uri="{FF2B5EF4-FFF2-40B4-BE49-F238E27FC236}">
                  <a16:creationId xmlns:a16="http://schemas.microsoft.com/office/drawing/2014/main" id="{E5175082-729B-B322-54C3-1BC6F2933CF5}"/>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2" name="object 9">
            <a:extLst>
              <a:ext uri="{FF2B5EF4-FFF2-40B4-BE49-F238E27FC236}">
                <a16:creationId xmlns:a16="http://schemas.microsoft.com/office/drawing/2014/main" id="{BD811BC6-F1EA-8658-A72B-B3058B975F03}"/>
              </a:ext>
            </a:extLst>
          </p:cNvPr>
          <p:cNvSpPr txBox="1">
            <a:spLocks noGrp="1"/>
          </p:cNvSpPr>
          <p:nvPr>
            <p:ph type="title"/>
          </p:nvPr>
        </p:nvSpPr>
        <p:spPr>
          <a:xfrm>
            <a:off x="3945255" y="432593"/>
            <a:ext cx="2167890" cy="327660"/>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CONCLUSION</a:t>
            </a:r>
          </a:p>
        </p:txBody>
      </p:sp>
      <p:pic>
        <p:nvPicPr>
          <p:cNvPr id="13" name="object 3">
            <a:extLst>
              <a:ext uri="{FF2B5EF4-FFF2-40B4-BE49-F238E27FC236}">
                <a16:creationId xmlns:a16="http://schemas.microsoft.com/office/drawing/2014/main" id="{B630F4B7-D202-C3D4-39E8-181A68EB1C80}"/>
              </a:ext>
            </a:extLst>
          </p:cNvPr>
          <p:cNvPicPr/>
          <p:nvPr/>
        </p:nvPicPr>
        <p:blipFill>
          <a:blip r:embed="rId5" cstate="print"/>
          <a:stretch>
            <a:fillRect/>
          </a:stretch>
        </p:blipFill>
        <p:spPr>
          <a:xfrm>
            <a:off x="290750" y="204311"/>
            <a:ext cx="1163002" cy="424338"/>
          </a:xfrm>
          <a:prstGeom prst="rect">
            <a:avLst/>
          </a:prstGeom>
        </p:spPr>
      </p:pic>
    </p:spTree>
    <p:extLst>
      <p:ext uri="{BB962C8B-B14F-4D97-AF65-F5344CB8AC3E}">
        <p14:creationId xmlns:p14="http://schemas.microsoft.com/office/powerpoint/2010/main" val="33772483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693969" y="211046"/>
            <a:ext cx="4610910" cy="628649"/>
          </a:xfrm>
          <a:prstGeom prst="rect">
            <a:avLst/>
          </a:prstGeom>
        </p:spPr>
      </p:pic>
      <p:sp>
        <p:nvSpPr>
          <p:cNvPr id="3" name="object 3"/>
          <p:cNvSpPr txBox="1">
            <a:spLocks noGrp="1"/>
          </p:cNvSpPr>
          <p:nvPr>
            <p:ph type="title"/>
          </p:nvPr>
        </p:nvSpPr>
        <p:spPr>
          <a:xfrm>
            <a:off x="1447800" y="1076308"/>
            <a:ext cx="7467599" cy="1012585"/>
          </a:xfrm>
          <a:prstGeom prst="rect">
            <a:avLst/>
          </a:prstGeom>
        </p:spPr>
        <p:txBody>
          <a:bodyPr vert="horz" wrap="square" lIns="0" tIns="11430" rIns="0" bIns="0" rtlCol="0">
            <a:spAutoFit/>
          </a:bodyPr>
          <a:lstStyle/>
          <a:p>
            <a:pPr marL="12700" algn="ctr">
              <a:lnSpc>
                <a:spcPct val="150000"/>
              </a:lnSpc>
              <a:spcBef>
                <a:spcPts val="90"/>
              </a:spcBef>
            </a:pPr>
            <a:r>
              <a:rPr lang="en-IN" sz="2400" spc="-10" dirty="0">
                <a:latin typeface="Times New Roman" panose="02020603050405020304" pitchFamily="18" charset="0"/>
                <a:cs typeface="Times New Roman" panose="02020603050405020304" pitchFamily="18" charset="0"/>
              </a:rPr>
              <a:t>Data Analysis Essentials Cornerstone Project</a:t>
            </a:r>
            <a:br>
              <a:rPr lang="en-IN" sz="2200" spc="-10" dirty="0">
                <a:latin typeface="Times New Roman" panose="02020603050405020304" pitchFamily="18" charset="0"/>
                <a:cs typeface="Times New Roman" panose="02020603050405020304" pitchFamily="18" charset="0"/>
              </a:rPr>
            </a:br>
            <a:r>
              <a:rPr lang="en-IN" sz="2200" spc="-10" dirty="0">
                <a:latin typeface="Times New Roman" panose="02020603050405020304" pitchFamily="18" charset="0"/>
                <a:cs typeface="Times New Roman" panose="02020603050405020304" pitchFamily="18" charset="0"/>
              </a:rPr>
              <a:t>First Review</a:t>
            </a:r>
            <a:endParaRPr sz="2200" spc="-10" dirty="0">
              <a:latin typeface="Times New Roman" panose="02020603050405020304" pitchFamily="18" charset="0"/>
              <a:cs typeface="Times New Roman" panose="02020603050405020304" pitchFamily="18" charset="0"/>
            </a:endParaRPr>
          </a:p>
        </p:txBody>
      </p:sp>
      <p:sp>
        <p:nvSpPr>
          <p:cNvPr id="4" name="object 4"/>
          <p:cNvSpPr txBox="1">
            <a:spLocks noGrp="1"/>
          </p:cNvSpPr>
          <p:nvPr>
            <p:ph type="body" idx="1"/>
          </p:nvPr>
        </p:nvSpPr>
        <p:spPr>
          <a:xfrm>
            <a:off x="914400" y="2590800"/>
            <a:ext cx="8751412" cy="3917739"/>
          </a:xfrm>
          <a:prstGeom prst="rect">
            <a:avLst/>
          </a:prstGeom>
        </p:spPr>
        <p:txBody>
          <a:bodyPr vert="horz" wrap="square" lIns="0" tIns="16510" rIns="0" bIns="0" rtlCol="0">
            <a:spAutoFit/>
          </a:bodyPr>
          <a:lstStyle/>
          <a:p>
            <a:pPr algn="ctr">
              <a:lnSpc>
                <a:spcPct val="100000"/>
              </a:lnSpc>
              <a:spcBef>
                <a:spcPts val="130"/>
              </a:spcBef>
            </a:pPr>
            <a:r>
              <a:rPr lang="en-IN" dirty="0"/>
              <a:t>Library Management Data Analysis System</a:t>
            </a:r>
          </a:p>
          <a:p>
            <a:pPr algn="ctr">
              <a:lnSpc>
                <a:spcPct val="100000"/>
              </a:lnSpc>
              <a:spcBef>
                <a:spcPts val="130"/>
              </a:spcBef>
            </a:pPr>
            <a:endParaRPr lang="en-IN" dirty="0">
              <a:solidFill>
                <a:srgbClr val="FF0000"/>
              </a:solidFill>
              <a:latin typeface="Times New Roman" panose="02020603050405020304" pitchFamily="18" charset="0"/>
              <a:cs typeface="Times New Roman" panose="02020603050405020304" pitchFamily="18" charset="0"/>
            </a:endParaRPr>
          </a:p>
          <a:p>
            <a:pPr algn="ctr">
              <a:lnSpc>
                <a:spcPct val="100000"/>
              </a:lnSpc>
              <a:spcBef>
                <a:spcPts val="130"/>
              </a:spcBef>
            </a:pPr>
            <a:r>
              <a:rPr sz="2200" dirty="0">
                <a:solidFill>
                  <a:srgbClr val="FF0000"/>
                </a:solidFill>
                <a:latin typeface="Times New Roman" panose="02020603050405020304" pitchFamily="18" charset="0"/>
                <a:cs typeface="Times New Roman" panose="02020603050405020304" pitchFamily="18" charset="0"/>
              </a:rPr>
              <a:t>Presented</a:t>
            </a:r>
            <a:r>
              <a:rPr sz="2200" spc="80" dirty="0">
                <a:solidFill>
                  <a:srgbClr val="FF0000"/>
                </a:solidFill>
                <a:latin typeface="Times New Roman" panose="02020603050405020304" pitchFamily="18" charset="0"/>
                <a:cs typeface="Times New Roman" panose="02020603050405020304" pitchFamily="18" charset="0"/>
              </a:rPr>
              <a:t> </a:t>
            </a:r>
            <a:r>
              <a:rPr sz="2200" spc="-25" dirty="0">
                <a:solidFill>
                  <a:srgbClr val="FF0000"/>
                </a:solidFill>
                <a:latin typeface="Times New Roman" panose="02020603050405020304" pitchFamily="18" charset="0"/>
                <a:cs typeface="Times New Roman" panose="02020603050405020304" pitchFamily="18" charset="0"/>
              </a:rPr>
              <a:t>by</a:t>
            </a:r>
            <a:endParaRPr lang="en-IN" sz="2200" spc="-25" dirty="0">
              <a:solidFill>
                <a:srgbClr val="FF0000"/>
              </a:solidFill>
              <a:latin typeface="Times New Roman" panose="02020603050405020304" pitchFamily="18" charset="0"/>
              <a:cs typeface="Times New Roman" panose="02020603050405020304" pitchFamily="18" charset="0"/>
            </a:endParaRPr>
          </a:p>
          <a:p>
            <a:pPr algn="ctr">
              <a:lnSpc>
                <a:spcPct val="100000"/>
              </a:lnSpc>
              <a:spcBef>
                <a:spcPts val="130"/>
              </a:spcBef>
            </a:pPr>
            <a:endParaRPr lang="en-IN" sz="900" spc="-25" dirty="0">
              <a:solidFill>
                <a:srgbClr val="FF0000"/>
              </a:solidFill>
              <a:latin typeface="Times New Roman" panose="02020603050405020304" pitchFamily="18" charset="0"/>
              <a:cs typeface="Times New Roman" panose="02020603050405020304" pitchFamily="18" charset="0"/>
            </a:endParaRPr>
          </a:p>
          <a:p>
            <a:pPr algn="ctr">
              <a:lnSpc>
                <a:spcPct val="100000"/>
              </a:lnSpc>
              <a:spcBef>
                <a:spcPts val="130"/>
              </a:spcBef>
            </a:pPr>
            <a:r>
              <a:rPr lang="en-IN" sz="2000" spc="-10" dirty="0">
                <a:solidFill>
                  <a:srgbClr val="17375E"/>
                </a:solidFill>
                <a:latin typeface="Times New Roman" panose="02020603050405020304" pitchFamily="18" charset="0"/>
                <a:cs typeface="Times New Roman" panose="02020603050405020304" pitchFamily="18" charset="0"/>
              </a:rPr>
              <a:t>   B.V.V.Satyanaaryana (26B21AI014)</a:t>
            </a:r>
          </a:p>
          <a:p>
            <a:pPr marL="3810" algn="ctr">
              <a:lnSpc>
                <a:spcPct val="100000"/>
              </a:lnSpc>
              <a:spcBef>
                <a:spcPts val="750"/>
              </a:spcBef>
            </a:pPr>
            <a:r>
              <a:rPr lang="en-IN" sz="2000" spc="-10" dirty="0">
                <a:solidFill>
                  <a:srgbClr val="17375E"/>
                </a:solidFill>
                <a:latin typeface="Times New Roman" panose="02020603050405020304" pitchFamily="18" charset="0"/>
                <a:cs typeface="Times New Roman" panose="02020603050405020304" pitchFamily="18" charset="0"/>
              </a:rPr>
              <a:t>  G.D.Eswar Shanmukh(26B21AI034)</a:t>
            </a:r>
          </a:p>
          <a:p>
            <a:pPr marL="3810" algn="ctr">
              <a:lnSpc>
                <a:spcPct val="100000"/>
              </a:lnSpc>
              <a:spcBef>
                <a:spcPts val="750"/>
              </a:spcBef>
            </a:pPr>
            <a:r>
              <a:rPr lang="en-IN" sz="2000" spc="-10" dirty="0">
                <a:solidFill>
                  <a:srgbClr val="17375E"/>
                </a:solidFill>
                <a:latin typeface="Times New Roman" panose="02020603050405020304" pitchFamily="18" charset="0"/>
                <a:cs typeface="Times New Roman" panose="02020603050405020304" pitchFamily="18" charset="0"/>
              </a:rPr>
              <a:t>G. Sai Charan (26B21AI043)</a:t>
            </a:r>
          </a:p>
          <a:p>
            <a:pPr marL="3810" algn="ctr">
              <a:lnSpc>
                <a:spcPct val="100000"/>
              </a:lnSpc>
              <a:spcBef>
                <a:spcPts val="750"/>
              </a:spcBef>
            </a:pPr>
            <a:r>
              <a:rPr lang="en-IN" sz="2000" spc="-10" dirty="0">
                <a:solidFill>
                  <a:srgbClr val="17375E"/>
                </a:solidFill>
                <a:latin typeface="Times New Roman" panose="02020603050405020304" pitchFamily="18" charset="0"/>
                <a:cs typeface="Times New Roman" panose="02020603050405020304" pitchFamily="18" charset="0"/>
              </a:rPr>
              <a:t>S.T.N.V. Ganesh (26B21AI071)</a:t>
            </a:r>
          </a:p>
          <a:p>
            <a:pPr marL="3810" algn="ctr">
              <a:lnSpc>
                <a:spcPct val="100000"/>
              </a:lnSpc>
              <a:spcBef>
                <a:spcPts val="750"/>
              </a:spcBef>
            </a:pPr>
            <a:endParaRPr lang="en-IN" sz="2000" spc="-10" dirty="0">
              <a:solidFill>
                <a:srgbClr val="17375E"/>
              </a:solidFill>
              <a:latin typeface="Times New Roman" panose="02020603050405020304" pitchFamily="18" charset="0"/>
              <a:cs typeface="Times New Roman" panose="02020603050405020304" pitchFamily="18" charset="0"/>
            </a:endParaRPr>
          </a:p>
          <a:p>
            <a:pPr marL="3810" algn="ctr">
              <a:lnSpc>
                <a:spcPct val="100000"/>
              </a:lnSpc>
              <a:spcBef>
                <a:spcPts val="750"/>
              </a:spcBef>
            </a:pPr>
            <a:r>
              <a:rPr lang="en-US" sz="2200" dirty="0">
                <a:solidFill>
                  <a:srgbClr val="943735"/>
                </a:solidFill>
                <a:latin typeface="Times New Roman" panose="02020603050405020304" pitchFamily="18" charset="0"/>
                <a:cs typeface="Times New Roman" panose="02020603050405020304" pitchFamily="18" charset="0"/>
              </a:rPr>
              <a:t>    </a:t>
            </a:r>
            <a:r>
              <a:rPr sz="2200" dirty="0">
                <a:solidFill>
                  <a:srgbClr val="943735"/>
                </a:solidFill>
                <a:latin typeface="Times New Roman" panose="02020603050405020304" pitchFamily="18" charset="0"/>
                <a:cs typeface="Times New Roman" panose="02020603050405020304" pitchFamily="18" charset="0"/>
              </a:rPr>
              <a:t>Department</a:t>
            </a:r>
            <a:r>
              <a:rPr sz="2200" spc="-60" dirty="0">
                <a:solidFill>
                  <a:srgbClr val="943735"/>
                </a:solidFill>
                <a:latin typeface="Times New Roman" panose="02020603050405020304" pitchFamily="18" charset="0"/>
                <a:cs typeface="Times New Roman" panose="02020603050405020304" pitchFamily="18" charset="0"/>
              </a:rPr>
              <a:t> </a:t>
            </a:r>
            <a:r>
              <a:rPr sz="2200" dirty="0">
                <a:solidFill>
                  <a:srgbClr val="943735"/>
                </a:solidFill>
                <a:latin typeface="Times New Roman" panose="02020603050405020304" pitchFamily="18" charset="0"/>
                <a:cs typeface="Times New Roman" panose="02020603050405020304" pitchFamily="18" charset="0"/>
              </a:rPr>
              <a:t>o</a:t>
            </a:r>
            <a:r>
              <a:rPr lang="en-US" sz="2200" dirty="0">
                <a:solidFill>
                  <a:srgbClr val="943735"/>
                </a:solidFill>
                <a:latin typeface="Times New Roman" panose="02020603050405020304" pitchFamily="18" charset="0"/>
                <a:cs typeface="Times New Roman" panose="02020603050405020304" pitchFamily="18" charset="0"/>
              </a:rPr>
              <a:t>f </a:t>
            </a:r>
            <a:r>
              <a:rPr lang="en-IN" sz="2200" dirty="0">
                <a:solidFill>
                  <a:srgbClr val="943735"/>
                </a:solidFill>
                <a:latin typeface="Times New Roman" panose="02020603050405020304" pitchFamily="18" charset="0"/>
                <a:cs typeface="Times New Roman" panose="02020603050405020304" pitchFamily="18" charset="0"/>
              </a:rPr>
              <a:t>Artificial Intelligence &amp; Machine Learning</a:t>
            </a:r>
            <a:endParaRPr lang="en-IN" sz="2200" spc="-10" dirty="0">
              <a:solidFill>
                <a:srgbClr val="943735"/>
              </a:solidFill>
              <a:latin typeface="Times New Roman" panose="02020603050405020304" pitchFamily="18" charset="0"/>
              <a:cs typeface="Times New Roman" panose="02020603050405020304" pitchFamily="18" charset="0"/>
            </a:endParaRPr>
          </a:p>
          <a:p>
            <a:pPr marL="1270" algn="ctr">
              <a:lnSpc>
                <a:spcPct val="100000"/>
              </a:lnSpc>
              <a:spcBef>
                <a:spcPts val="994"/>
              </a:spcBef>
            </a:pPr>
            <a:endParaRPr lang="en-IN" sz="1650" spc="-10" dirty="0">
              <a:solidFill>
                <a:srgbClr val="943735"/>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3"/>
          <p:cNvPicPr/>
          <p:nvPr/>
        </p:nvPicPr>
        <p:blipFill>
          <a:blip r:embed="rId2" cstate="print"/>
          <a:stretch>
            <a:fillRect/>
          </a:stretch>
        </p:blipFill>
        <p:spPr>
          <a:xfrm>
            <a:off x="290750" y="204311"/>
            <a:ext cx="1163002" cy="424338"/>
          </a:xfrm>
          <a:prstGeom prst="rect">
            <a:avLst/>
          </a:prstGeom>
        </p:spPr>
      </p:pic>
      <p:sp>
        <p:nvSpPr>
          <p:cNvPr id="4" name="object 4"/>
          <p:cNvSpPr txBox="1"/>
          <p:nvPr/>
        </p:nvSpPr>
        <p:spPr>
          <a:xfrm>
            <a:off x="1258220" y="1497893"/>
            <a:ext cx="3032125" cy="4217821"/>
          </a:xfrm>
          <a:prstGeom prst="rect">
            <a:avLst/>
          </a:prstGeom>
        </p:spPr>
        <p:txBody>
          <a:bodyPr vert="horz" wrap="square" lIns="0" tIns="16510" rIns="0" bIns="0" rtlCol="0">
            <a:spAutoFit/>
          </a:bodyPr>
          <a:lstStyle/>
          <a:p>
            <a:pPr marL="389890" indent="-377190">
              <a:lnSpc>
                <a:spcPct val="100000"/>
              </a:lnSpc>
              <a:spcBef>
                <a:spcPts val="130"/>
              </a:spcBef>
              <a:buFont typeface="Cambria"/>
              <a:buAutoNum type="arabicPeriod"/>
              <a:tabLst>
                <a:tab pos="389890" algn="l"/>
              </a:tabLst>
            </a:pPr>
            <a:r>
              <a:rPr lang="en-IN" sz="2400" spc="-10" dirty="0">
                <a:latin typeface="Times New Roman" panose="02020603050405020304" pitchFamily="18" charset="0"/>
                <a:cs typeface="Times New Roman" panose="02020603050405020304" pitchFamily="18" charset="0"/>
              </a:rPr>
              <a:t>Abstract</a:t>
            </a:r>
            <a:endParaRPr sz="2400" dirty="0">
              <a:latin typeface="Times New Roman" panose="02020603050405020304" pitchFamily="18" charset="0"/>
              <a:cs typeface="Times New Roman" panose="02020603050405020304" pitchFamily="18" charset="0"/>
            </a:endParaRPr>
          </a:p>
          <a:p>
            <a:pPr marL="389890" indent="-377190">
              <a:lnSpc>
                <a:spcPct val="100000"/>
              </a:lnSpc>
              <a:spcBef>
                <a:spcPts val="2060"/>
              </a:spcBef>
              <a:buAutoNum type="arabicPeriod"/>
              <a:tabLst>
                <a:tab pos="389890" algn="l"/>
              </a:tabLst>
            </a:pPr>
            <a:r>
              <a:rPr lang="en-IN" sz="2400" dirty="0">
                <a:latin typeface="Times New Roman" panose="02020603050405020304" pitchFamily="18" charset="0"/>
                <a:cs typeface="Times New Roman" panose="02020603050405020304" pitchFamily="18" charset="0"/>
              </a:rPr>
              <a:t>Introduction</a:t>
            </a:r>
          </a:p>
          <a:p>
            <a:pPr marL="389890" indent="-377190">
              <a:lnSpc>
                <a:spcPct val="100000"/>
              </a:lnSpc>
              <a:spcBef>
                <a:spcPts val="2060"/>
              </a:spcBef>
              <a:buAutoNum type="arabicPeriod"/>
              <a:tabLst>
                <a:tab pos="389890" algn="l"/>
              </a:tabLst>
            </a:pPr>
            <a:r>
              <a:rPr lang="en-IN" sz="2400" dirty="0">
                <a:latin typeface="Times New Roman" panose="02020603050405020304" pitchFamily="18" charset="0"/>
                <a:cs typeface="Times New Roman" panose="02020603050405020304" pitchFamily="18" charset="0"/>
              </a:rPr>
              <a:t>Analysis</a:t>
            </a:r>
            <a:endParaRPr sz="2400" dirty="0">
              <a:latin typeface="Times New Roman" panose="02020603050405020304" pitchFamily="18" charset="0"/>
              <a:cs typeface="Times New Roman" panose="02020603050405020304" pitchFamily="18" charset="0"/>
            </a:endParaRPr>
          </a:p>
          <a:p>
            <a:pPr marL="389890" indent="-377190">
              <a:lnSpc>
                <a:spcPct val="100000"/>
              </a:lnSpc>
              <a:spcBef>
                <a:spcPts val="2060"/>
              </a:spcBef>
              <a:buAutoNum type="arabicPeriod"/>
              <a:tabLst>
                <a:tab pos="389890" algn="l"/>
              </a:tabLst>
            </a:pPr>
            <a:r>
              <a:rPr lang="en-IN" sz="2400" dirty="0">
                <a:latin typeface="Times New Roman" panose="02020603050405020304" pitchFamily="18" charset="0"/>
                <a:cs typeface="Times New Roman" panose="02020603050405020304" pitchFamily="18" charset="0"/>
              </a:rPr>
              <a:t>Requirements</a:t>
            </a:r>
          </a:p>
          <a:p>
            <a:pPr marL="389890" indent="-377190">
              <a:lnSpc>
                <a:spcPct val="100000"/>
              </a:lnSpc>
              <a:spcBef>
                <a:spcPts val="2060"/>
              </a:spcBef>
              <a:buAutoNum type="arabicPeriod"/>
              <a:tabLst>
                <a:tab pos="389890" algn="l"/>
              </a:tabLst>
            </a:pPr>
            <a:r>
              <a:rPr lang="en-IN" sz="2400" spc="50" dirty="0">
                <a:latin typeface="Times New Roman" panose="02020603050405020304" pitchFamily="18" charset="0"/>
                <a:cs typeface="Times New Roman" panose="02020603050405020304" pitchFamily="18" charset="0"/>
              </a:rPr>
              <a:t>Methodology</a:t>
            </a:r>
          </a:p>
          <a:p>
            <a:pPr marL="389890" indent="-377190">
              <a:lnSpc>
                <a:spcPct val="100000"/>
              </a:lnSpc>
              <a:spcBef>
                <a:spcPts val="2060"/>
              </a:spcBef>
              <a:buAutoNum type="arabicPeriod"/>
              <a:tabLst>
                <a:tab pos="389890" algn="l"/>
              </a:tabLst>
            </a:pPr>
            <a:r>
              <a:rPr lang="en-IN" sz="2400" spc="50" dirty="0">
                <a:latin typeface="Times New Roman" panose="02020603050405020304" pitchFamily="18" charset="0"/>
                <a:cs typeface="Times New Roman" panose="02020603050405020304" pitchFamily="18" charset="0"/>
              </a:rPr>
              <a:t>Expected output</a:t>
            </a:r>
          </a:p>
          <a:p>
            <a:pPr marL="389890" indent="-377190">
              <a:lnSpc>
                <a:spcPct val="100000"/>
              </a:lnSpc>
              <a:spcBef>
                <a:spcPts val="2060"/>
              </a:spcBef>
              <a:buAutoNum type="arabicPeriod"/>
              <a:tabLst>
                <a:tab pos="389890" algn="l"/>
              </a:tabLst>
            </a:pPr>
            <a:r>
              <a:rPr lang="en-IN" sz="2400" spc="50" dirty="0">
                <a:latin typeface="Times New Roman" panose="02020603050405020304" pitchFamily="18" charset="0"/>
                <a:cs typeface="Times New Roman" panose="02020603050405020304" pitchFamily="18" charset="0"/>
              </a:rPr>
              <a:t>Conclusion</a:t>
            </a:r>
          </a:p>
        </p:txBody>
      </p:sp>
      <p:grpSp>
        <p:nvGrpSpPr>
          <p:cNvPr id="5" name="object 3"/>
          <p:cNvGrpSpPr/>
          <p:nvPr/>
        </p:nvGrpSpPr>
        <p:grpSpPr>
          <a:xfrm>
            <a:off x="2438400" y="33670"/>
            <a:ext cx="5334000" cy="1198311"/>
            <a:chOff x="2648188" y="47148"/>
            <a:chExt cx="5103904" cy="1198311"/>
          </a:xfrm>
        </p:grpSpPr>
        <p:pic>
          <p:nvPicPr>
            <p:cNvPr id="6" name="object 4"/>
            <p:cNvPicPr/>
            <p:nvPr/>
          </p:nvPicPr>
          <p:blipFill>
            <a:blip r:embed="rId3" cstate="print"/>
            <a:stretch>
              <a:fillRect/>
            </a:stretch>
          </p:blipFill>
          <p:spPr>
            <a:xfrm>
              <a:off x="2648188" y="47148"/>
              <a:ext cx="5103904" cy="1198311"/>
            </a:xfrm>
            <a:prstGeom prst="rect">
              <a:avLst/>
            </a:prstGeom>
          </p:spPr>
        </p:pic>
        <p:pic>
          <p:nvPicPr>
            <p:cNvPr id="7" name="object 5"/>
            <p:cNvPicPr/>
            <p:nvPr/>
          </p:nvPicPr>
          <p:blipFill>
            <a:blip r:embed="rId4" cstate="print"/>
            <a:stretch>
              <a:fillRect/>
            </a:stretch>
          </p:blipFill>
          <p:spPr>
            <a:xfrm>
              <a:off x="2703195" y="86439"/>
              <a:ext cx="4997767" cy="1092279"/>
            </a:xfrm>
            <a:prstGeom prst="rect">
              <a:avLst/>
            </a:prstGeom>
          </p:spPr>
        </p:pic>
        <p:pic>
          <p:nvPicPr>
            <p:cNvPr id="8" name="object 6"/>
            <p:cNvPicPr/>
            <p:nvPr/>
          </p:nvPicPr>
          <p:blipFill>
            <a:blip r:embed="rId5" cstate="print"/>
            <a:stretch>
              <a:fillRect/>
            </a:stretch>
          </p:blipFill>
          <p:spPr>
            <a:xfrm>
              <a:off x="2828925" y="243549"/>
              <a:ext cx="4585268" cy="522565"/>
            </a:xfrm>
            <a:prstGeom prst="rect">
              <a:avLst/>
            </a:prstGeom>
          </p:spPr>
        </p:pic>
        <p:sp>
          <p:nvSpPr>
            <p:cNvPr id="9" name="object 7"/>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p:cNvSpPr txBox="1">
            <a:spLocks/>
          </p:cNvSpPr>
          <p:nvPr/>
        </p:nvSpPr>
        <p:spPr>
          <a:xfrm>
            <a:off x="3604543" y="286092"/>
            <a:ext cx="2853690" cy="355225"/>
          </a:xfrm>
          <a:prstGeom prst="rect">
            <a:avLst/>
          </a:prstGeom>
        </p:spPr>
        <p:txBody>
          <a:bodyPr vert="horz" wrap="square" lIns="0" tIns="16510" rIns="0" bIns="0" rtlCol="0">
            <a:spAutoFit/>
          </a:bodyPr>
          <a:lstStyle>
            <a:lvl1pPr>
              <a:defRPr>
                <a:latin typeface="+mj-lt"/>
                <a:ea typeface="+mj-ea"/>
                <a:cs typeface="+mj-cs"/>
              </a:defRPr>
            </a:lvl1pPr>
          </a:lstStyle>
          <a:p>
            <a:pPr marL="12700" algn="ctr">
              <a:spcBef>
                <a:spcPts val="130"/>
              </a:spcBef>
            </a:pPr>
            <a:r>
              <a:rPr lang="en-IN" sz="2200" b="1" dirty="0">
                <a:solidFill>
                  <a:schemeClr val="bg1"/>
                </a:solidFill>
                <a:latin typeface="Times New Roman" panose="02020603050405020304" pitchFamily="18" charset="0"/>
                <a:cs typeface="Times New Roman" panose="02020603050405020304" pitchFamily="18" charset="0"/>
              </a:rPr>
              <a:t>Presentation Outline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3" name="object 3"/>
          <p:cNvGrpSpPr/>
          <p:nvPr/>
        </p:nvGrpSpPr>
        <p:grpSpPr>
          <a:xfrm>
            <a:off x="2667000" y="53695"/>
            <a:ext cx="5103904" cy="1198311"/>
            <a:chOff x="2648188" y="47148"/>
            <a:chExt cx="5103904" cy="1198311"/>
          </a:xfrm>
        </p:grpSpPr>
        <p:pic>
          <p:nvPicPr>
            <p:cNvPr id="4" name="object 4"/>
            <p:cNvPicPr/>
            <p:nvPr/>
          </p:nvPicPr>
          <p:blipFill>
            <a:blip r:embed="rId2" cstate="print"/>
            <a:stretch>
              <a:fillRect/>
            </a:stretch>
          </p:blipFill>
          <p:spPr>
            <a:xfrm>
              <a:off x="2648188" y="47148"/>
              <a:ext cx="5103904" cy="1198311"/>
            </a:xfrm>
            <a:prstGeom prst="rect">
              <a:avLst/>
            </a:prstGeom>
          </p:spPr>
        </p:pic>
        <p:pic>
          <p:nvPicPr>
            <p:cNvPr id="5" name="object 5"/>
            <p:cNvPicPr/>
            <p:nvPr/>
          </p:nvPicPr>
          <p:blipFill>
            <a:blip r:embed="rId3" cstate="print"/>
            <a:stretch>
              <a:fillRect/>
            </a:stretch>
          </p:blipFill>
          <p:spPr>
            <a:xfrm>
              <a:off x="2703195" y="86439"/>
              <a:ext cx="4997767" cy="1092279"/>
            </a:xfrm>
            <a:prstGeom prst="rect">
              <a:avLst/>
            </a:prstGeom>
          </p:spPr>
        </p:pic>
        <p:pic>
          <p:nvPicPr>
            <p:cNvPr id="6" name="object 6"/>
            <p:cNvPicPr/>
            <p:nvPr/>
          </p:nvPicPr>
          <p:blipFill>
            <a:blip r:embed="rId4" cstate="print"/>
            <a:stretch>
              <a:fillRect/>
            </a:stretch>
          </p:blipFill>
          <p:spPr>
            <a:xfrm>
              <a:off x="2828925" y="243549"/>
              <a:ext cx="4585268" cy="522565"/>
            </a:xfrm>
            <a:prstGeom prst="rect">
              <a:avLst/>
            </a:prstGeom>
          </p:spPr>
        </p:pic>
        <p:sp>
          <p:nvSpPr>
            <p:cNvPr id="7" name="object 7"/>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9" name="object 9"/>
          <p:cNvSpPr txBox="1">
            <a:spLocks noGrp="1"/>
          </p:cNvSpPr>
          <p:nvPr>
            <p:ph type="title"/>
          </p:nvPr>
        </p:nvSpPr>
        <p:spPr>
          <a:xfrm>
            <a:off x="4343400" y="325191"/>
            <a:ext cx="2167890" cy="327660"/>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ABSTRACT</a:t>
            </a:r>
          </a:p>
        </p:txBody>
      </p:sp>
      <p:pic>
        <p:nvPicPr>
          <p:cNvPr id="10" name="object 3">
            <a:extLst>
              <a:ext uri="{FF2B5EF4-FFF2-40B4-BE49-F238E27FC236}">
                <a16:creationId xmlns:a16="http://schemas.microsoft.com/office/drawing/2014/main" id="{1B5A0518-1CDA-CA94-327E-0995E9EC2B84}"/>
              </a:ext>
            </a:extLst>
          </p:cNvPr>
          <p:cNvPicPr/>
          <p:nvPr/>
        </p:nvPicPr>
        <p:blipFill>
          <a:blip r:embed="rId5" cstate="print"/>
          <a:stretch>
            <a:fillRect/>
          </a:stretch>
        </p:blipFill>
        <p:spPr>
          <a:xfrm>
            <a:off x="290750" y="204311"/>
            <a:ext cx="1163002" cy="424338"/>
          </a:xfrm>
          <a:prstGeom prst="rect">
            <a:avLst/>
          </a:prstGeom>
        </p:spPr>
      </p:pic>
      <p:sp>
        <p:nvSpPr>
          <p:cNvPr id="13" name="TextBox 12">
            <a:extLst>
              <a:ext uri="{FF2B5EF4-FFF2-40B4-BE49-F238E27FC236}">
                <a16:creationId xmlns:a16="http://schemas.microsoft.com/office/drawing/2014/main" id="{F71F55BA-986F-654A-5E2D-6EB3BA46572D}"/>
              </a:ext>
            </a:extLst>
          </p:cNvPr>
          <p:cNvSpPr txBox="1"/>
          <p:nvPr/>
        </p:nvSpPr>
        <p:spPr>
          <a:xfrm>
            <a:off x="419100" y="1410012"/>
            <a:ext cx="9220200" cy="5293757"/>
          </a:xfrm>
          <a:prstGeom prst="rect">
            <a:avLst/>
          </a:prstGeom>
          <a:noFill/>
        </p:spPr>
        <p:txBody>
          <a:bodyPr wrap="square" rtlCol="0">
            <a:spAutoFit/>
          </a:bodyPr>
          <a:lstStyle/>
          <a:p>
            <a:pPr algn="just"/>
            <a:r>
              <a:rPr lang="en-US" sz="2600" dirty="0">
                <a:latin typeface="Times New Roman" panose="02020603050405020304" pitchFamily="18" charset="0"/>
                <a:cs typeface="Times New Roman" panose="02020603050405020304" pitchFamily="18" charset="0"/>
              </a:rPr>
              <a:t>The Library Management Data Analysis System is a software based application designed to efficiently manage and analyze library-related data. The system maintains information about books, members, books issuing, returns and fines in a centralized database. It reduces manual paperwork and makes it easier to search, update and manage library records. The system also provides data analysis features to identify useful patterns such as the most borrowed books, frequently active members, book availability, monthly borrowing trends and fine collection. These insights can help librarians understand library usage and make better decisions regarding book management and resource allocation. The system can be developed using technologies such as Python, Numpy, Pandas and Matplotlib.</a:t>
            </a:r>
            <a:endParaRPr lang="en-IN" sz="2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3">
            <a:extLst>
              <a:ext uri="{FF2B5EF4-FFF2-40B4-BE49-F238E27FC236}">
                <a16:creationId xmlns:a16="http://schemas.microsoft.com/office/drawing/2014/main" id="{2B9EFFBF-7726-ED21-BD6C-4021B49E4438}"/>
              </a:ext>
            </a:extLst>
          </p:cNvPr>
          <p:cNvGrpSpPr/>
          <p:nvPr/>
        </p:nvGrpSpPr>
        <p:grpSpPr>
          <a:xfrm>
            <a:off x="2667000" y="85008"/>
            <a:ext cx="5103904" cy="1198311"/>
            <a:chOff x="2648188" y="47148"/>
            <a:chExt cx="5103904" cy="1198311"/>
          </a:xfrm>
        </p:grpSpPr>
        <p:pic>
          <p:nvPicPr>
            <p:cNvPr id="5" name="object 4">
              <a:extLst>
                <a:ext uri="{FF2B5EF4-FFF2-40B4-BE49-F238E27FC236}">
                  <a16:creationId xmlns:a16="http://schemas.microsoft.com/office/drawing/2014/main" id="{5359EAE0-4827-E1C6-F87E-DCB8892B4005}"/>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F4EE5AF0-F0A0-481E-EB59-2A06E92AC7E1}"/>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5FC53D65-7751-C01A-F243-C971B8A54510}"/>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92DCFA7B-7796-4FFE-22C4-D8D11B1128AC}"/>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5" name="TextBox 14">
            <a:extLst>
              <a:ext uri="{FF2B5EF4-FFF2-40B4-BE49-F238E27FC236}">
                <a16:creationId xmlns:a16="http://schemas.microsoft.com/office/drawing/2014/main" id="{D80E80D0-6F89-D49C-8F71-3B704975761E}"/>
              </a:ext>
            </a:extLst>
          </p:cNvPr>
          <p:cNvSpPr txBox="1"/>
          <p:nvPr/>
        </p:nvSpPr>
        <p:spPr>
          <a:xfrm>
            <a:off x="3954952" y="344896"/>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INTRODUCTION</a:t>
            </a:r>
          </a:p>
        </p:txBody>
      </p:sp>
      <p:pic>
        <p:nvPicPr>
          <p:cNvPr id="17" name="object 3">
            <a:extLst>
              <a:ext uri="{FF2B5EF4-FFF2-40B4-BE49-F238E27FC236}">
                <a16:creationId xmlns:a16="http://schemas.microsoft.com/office/drawing/2014/main" id="{EED75953-77B8-EB79-983F-0DFB76BE35E9}"/>
              </a:ext>
            </a:extLst>
          </p:cNvPr>
          <p:cNvPicPr/>
          <p:nvPr/>
        </p:nvPicPr>
        <p:blipFill>
          <a:blip r:embed="rId5" cstate="print"/>
          <a:stretch>
            <a:fillRect/>
          </a:stretch>
        </p:blipFill>
        <p:spPr>
          <a:xfrm>
            <a:off x="290750" y="204311"/>
            <a:ext cx="1163002" cy="424338"/>
          </a:xfrm>
          <a:prstGeom prst="rect">
            <a:avLst/>
          </a:prstGeom>
        </p:spPr>
      </p:pic>
      <p:sp>
        <p:nvSpPr>
          <p:cNvPr id="2" name="TextBox 1">
            <a:extLst>
              <a:ext uri="{FF2B5EF4-FFF2-40B4-BE49-F238E27FC236}">
                <a16:creationId xmlns:a16="http://schemas.microsoft.com/office/drawing/2014/main" id="{25851B59-AD5A-81AD-7D42-C1CD5E589B58}"/>
              </a:ext>
            </a:extLst>
          </p:cNvPr>
          <p:cNvSpPr txBox="1"/>
          <p:nvPr/>
        </p:nvSpPr>
        <p:spPr>
          <a:xfrm>
            <a:off x="835071" y="1185202"/>
            <a:ext cx="8610600" cy="6125523"/>
          </a:xfrm>
          <a:prstGeom prst="rect">
            <a:avLst/>
          </a:prstGeom>
          <a:noFill/>
        </p:spPr>
        <p:txBody>
          <a:bodyPr wrap="square" rtlCol="0">
            <a:spAutoFit/>
          </a:bodyPr>
          <a:lstStyle/>
          <a:p>
            <a:pPr marL="342900" indent="-342900">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Libraries contain a large number of Books and member records.</a:t>
            </a:r>
          </a:p>
          <a:p>
            <a:pPr marL="342900" indent="-342900">
              <a:buFont typeface="Arial" panose="020B0604020202020204" pitchFamily="34" charset="0"/>
              <a:buChar char="•"/>
            </a:pPr>
            <a:endParaRPr lang="en-IN" sz="22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Managing books, members, issues, returns manually can be difficult.</a:t>
            </a:r>
          </a:p>
          <a:p>
            <a:pPr marL="342900" indent="-342900">
              <a:buFont typeface="Arial" panose="020B0604020202020204" pitchFamily="34" charset="0"/>
              <a:buChar char="•"/>
            </a:pPr>
            <a:endParaRPr lang="en-IN" sz="22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Before managing library resources, important details need to be analyzed such as:</a:t>
            </a:r>
          </a:p>
          <a:p>
            <a:pPr marL="342900" indent="-342900">
              <a:buFont typeface="Arial" panose="020B0604020202020204" pitchFamily="34" charset="0"/>
              <a:buChar char="•"/>
            </a:pPr>
            <a:endParaRPr lang="en-IN" sz="2200" dirty="0">
              <a:latin typeface="Times New Roman" panose="02020603050405020304" pitchFamily="18" charset="0"/>
              <a:cs typeface="Times New Roman" panose="02020603050405020304" pitchFamily="18" charset="0"/>
            </a:endParaRPr>
          </a:p>
          <a:p>
            <a:r>
              <a:rPr lang="en-IN" sz="2200" dirty="0">
                <a:latin typeface="Times New Roman" panose="02020603050405020304" pitchFamily="18" charset="0"/>
                <a:cs typeface="Times New Roman" panose="02020603050405020304" pitchFamily="18" charset="0"/>
              </a:rPr>
              <a:t>                Book details</a:t>
            </a:r>
          </a:p>
          <a:p>
            <a:r>
              <a:rPr lang="en-IN" sz="2200" dirty="0">
                <a:latin typeface="Times New Roman" panose="02020603050405020304" pitchFamily="18" charset="0"/>
                <a:cs typeface="Times New Roman" panose="02020603050405020304" pitchFamily="18" charset="0"/>
              </a:rPr>
              <a:t>                Author</a:t>
            </a:r>
          </a:p>
          <a:p>
            <a:r>
              <a:rPr lang="en-IN" sz="2200" dirty="0">
                <a:latin typeface="Times New Roman" panose="02020603050405020304" pitchFamily="18" charset="0"/>
                <a:cs typeface="Times New Roman" panose="02020603050405020304" pitchFamily="18" charset="0"/>
              </a:rPr>
              <a:t>                Category</a:t>
            </a:r>
          </a:p>
          <a:p>
            <a:r>
              <a:rPr lang="en-IN" sz="2200" dirty="0">
                <a:latin typeface="Times New Roman" panose="02020603050405020304" pitchFamily="18" charset="0"/>
                <a:cs typeface="Times New Roman" panose="02020603050405020304" pitchFamily="18" charset="0"/>
              </a:rPr>
              <a:t>                Book Availability</a:t>
            </a:r>
          </a:p>
          <a:p>
            <a:r>
              <a:rPr lang="en-IN" sz="2200" dirty="0">
                <a:latin typeface="Times New Roman" panose="02020603050405020304" pitchFamily="18" charset="0"/>
                <a:cs typeface="Times New Roman" panose="02020603050405020304" pitchFamily="18" charset="0"/>
              </a:rPr>
              <a:t>                Member Details</a:t>
            </a:r>
          </a:p>
          <a:p>
            <a:r>
              <a:rPr lang="en-IN" sz="2200" dirty="0">
                <a:latin typeface="Times New Roman" panose="02020603050405020304" pitchFamily="18" charset="0"/>
                <a:cs typeface="Times New Roman" panose="02020603050405020304" pitchFamily="18" charset="0"/>
              </a:rPr>
              <a:t>                Issue and Return Dates</a:t>
            </a:r>
          </a:p>
          <a:p>
            <a:r>
              <a:rPr lang="en-IN" sz="2200" dirty="0">
                <a:latin typeface="Times New Roman" panose="02020603050405020304" pitchFamily="18" charset="0"/>
                <a:cs typeface="Times New Roman" panose="02020603050405020304" pitchFamily="18" charset="0"/>
              </a:rPr>
              <a:t>                Fine Amount</a:t>
            </a:r>
          </a:p>
          <a:p>
            <a:endParaRPr lang="en-IN" sz="2200" dirty="0">
              <a:latin typeface="Times New Roman" panose="02020603050405020304" pitchFamily="18" charset="0"/>
              <a:cs typeface="Times New Roman" panose="02020603050405020304" pitchFamily="18" charset="0"/>
            </a:endParaRPr>
          </a:p>
          <a:p>
            <a:pPr marL="342900" indent="-342900" algn="just">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Using </a:t>
            </a:r>
            <a:r>
              <a:rPr lang="en-IN" sz="2200" b="1" dirty="0">
                <a:latin typeface="Times New Roman" panose="02020603050405020304" pitchFamily="18" charset="0"/>
                <a:cs typeface="Times New Roman" panose="02020603050405020304" pitchFamily="18" charset="0"/>
              </a:rPr>
              <a:t>Python Data Analysis</a:t>
            </a:r>
            <a:r>
              <a:rPr lang="en-IN" sz="2200" dirty="0">
                <a:latin typeface="Times New Roman" panose="02020603050405020304" pitchFamily="18" charset="0"/>
                <a:cs typeface="Times New Roman" panose="02020603050405020304" pitchFamily="18" charset="0"/>
              </a:rPr>
              <a:t>, we can automatically clean, analyze and visualize the library data. </a:t>
            </a:r>
          </a:p>
        </p:txBody>
      </p:sp>
    </p:spTree>
    <p:extLst>
      <p:ext uri="{BB962C8B-B14F-4D97-AF65-F5344CB8AC3E}">
        <p14:creationId xmlns:p14="http://schemas.microsoft.com/office/powerpoint/2010/main" val="867892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3">
            <a:extLst>
              <a:ext uri="{FF2B5EF4-FFF2-40B4-BE49-F238E27FC236}">
                <a16:creationId xmlns:a16="http://schemas.microsoft.com/office/drawing/2014/main" id="{2B9EFFBF-7726-ED21-BD6C-4021B49E4438}"/>
              </a:ext>
            </a:extLst>
          </p:cNvPr>
          <p:cNvGrpSpPr/>
          <p:nvPr/>
        </p:nvGrpSpPr>
        <p:grpSpPr>
          <a:xfrm>
            <a:off x="2667000" y="85008"/>
            <a:ext cx="5103904" cy="1198311"/>
            <a:chOff x="2648188" y="47148"/>
            <a:chExt cx="5103904" cy="1198311"/>
          </a:xfrm>
        </p:grpSpPr>
        <p:pic>
          <p:nvPicPr>
            <p:cNvPr id="5" name="object 4">
              <a:extLst>
                <a:ext uri="{FF2B5EF4-FFF2-40B4-BE49-F238E27FC236}">
                  <a16:creationId xmlns:a16="http://schemas.microsoft.com/office/drawing/2014/main" id="{5359EAE0-4827-E1C6-F87E-DCB8892B4005}"/>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F4EE5AF0-F0A0-481E-EB59-2A06E92AC7E1}"/>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5FC53D65-7751-C01A-F243-C971B8A54510}"/>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92DCFA7B-7796-4FFE-22C4-D8D11B1128AC}"/>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5" name="TextBox 14">
            <a:extLst>
              <a:ext uri="{FF2B5EF4-FFF2-40B4-BE49-F238E27FC236}">
                <a16:creationId xmlns:a16="http://schemas.microsoft.com/office/drawing/2014/main" id="{D80E80D0-6F89-D49C-8F71-3B704975761E}"/>
              </a:ext>
            </a:extLst>
          </p:cNvPr>
          <p:cNvSpPr txBox="1"/>
          <p:nvPr/>
        </p:nvSpPr>
        <p:spPr>
          <a:xfrm>
            <a:off x="4412373" y="321324"/>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ANALYSIS</a:t>
            </a:r>
          </a:p>
        </p:txBody>
      </p:sp>
      <p:sp>
        <p:nvSpPr>
          <p:cNvPr id="16" name="TextBox 15">
            <a:extLst>
              <a:ext uri="{FF2B5EF4-FFF2-40B4-BE49-F238E27FC236}">
                <a16:creationId xmlns:a16="http://schemas.microsoft.com/office/drawing/2014/main" id="{85EA2366-D5A3-7AD8-E7B4-472C3227ADC8}"/>
              </a:ext>
            </a:extLst>
          </p:cNvPr>
          <p:cNvSpPr txBox="1"/>
          <p:nvPr/>
        </p:nvSpPr>
        <p:spPr>
          <a:xfrm>
            <a:off x="685800" y="961084"/>
            <a:ext cx="9220200" cy="7017306"/>
          </a:xfrm>
          <a:prstGeom prst="rect">
            <a:avLst/>
          </a:prstGeom>
          <a:noFill/>
        </p:spPr>
        <p:txBody>
          <a:bodyPr wrap="square" rtlCol="0">
            <a:spAutoFit/>
          </a:bodyPr>
          <a:lstStyle/>
          <a:p>
            <a:pPr>
              <a:spcBef>
                <a:spcPts val="1200"/>
              </a:spcBef>
            </a:pPr>
            <a:r>
              <a:rPr lang="en-US" sz="2400" b="1" dirty="0">
                <a:latin typeface="Times New Roman" panose="02020603050405020304" pitchFamily="18" charset="0"/>
                <a:cs typeface="Times New Roman" panose="02020603050405020304" pitchFamily="18" charset="0"/>
              </a:rPr>
              <a:t>Existing System :</a:t>
            </a:r>
          </a:p>
          <a:p>
            <a:pPr>
              <a:spcBef>
                <a:spcPts val="1200"/>
              </a:spcBef>
            </a:pPr>
            <a:endParaRPr lang="en-US" sz="2400" b="1"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IN" sz="2300" dirty="0">
                <a:latin typeface="Times New Roman" panose="02020603050405020304" pitchFamily="18" charset="0"/>
                <a:cs typeface="Times New Roman" panose="02020603050405020304" pitchFamily="18" charset="0"/>
              </a:rPr>
              <a:t>Th existing system mainly uses manual methods to manage library records.</a:t>
            </a:r>
          </a:p>
          <a:p>
            <a:pPr marL="342900" indent="-342900">
              <a:buFont typeface="Wingdings" panose="05000000000000000000" pitchFamily="2" charset="2"/>
              <a:buChar char="Ø"/>
            </a:pPr>
            <a:endParaRPr lang="en-IN" sz="23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IN" sz="2300" dirty="0">
                <a:latin typeface="Times New Roman" panose="02020603050405020304" pitchFamily="18" charset="0"/>
                <a:cs typeface="Times New Roman" panose="02020603050405020304" pitchFamily="18" charset="0"/>
              </a:rPr>
              <a:t>Book details are maintained in registers or spreadsheets.</a:t>
            </a:r>
          </a:p>
          <a:p>
            <a:pPr marL="342900" indent="-342900">
              <a:buFont typeface="Wingdings" panose="05000000000000000000" pitchFamily="2" charset="2"/>
              <a:buChar char="Ø"/>
            </a:pPr>
            <a:endParaRPr lang="en-IN" sz="23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IN" sz="2300" dirty="0">
                <a:latin typeface="Times New Roman" panose="02020603050405020304" pitchFamily="18" charset="0"/>
                <a:cs typeface="Times New Roman" panose="02020603050405020304" pitchFamily="18" charset="0"/>
              </a:rPr>
              <a:t>Member information is recorded manually.</a:t>
            </a:r>
          </a:p>
          <a:p>
            <a:pPr marL="342900" indent="-342900">
              <a:buFont typeface="Wingdings" panose="05000000000000000000" pitchFamily="2" charset="2"/>
              <a:buChar char="Ø"/>
            </a:pPr>
            <a:endParaRPr lang="en-IN" sz="23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IN" sz="2300" dirty="0">
                <a:latin typeface="Times New Roman" panose="02020603050405020304" pitchFamily="18" charset="0"/>
                <a:cs typeface="Times New Roman" panose="02020603050405020304" pitchFamily="18" charset="0"/>
              </a:rPr>
              <a:t>Searching for a particular book or member can be time-consuming.</a:t>
            </a:r>
          </a:p>
          <a:p>
            <a:pPr marL="342900" indent="-342900">
              <a:buFont typeface="Wingdings" panose="05000000000000000000" pitchFamily="2" charset="2"/>
              <a:buChar char="Ø"/>
            </a:pPr>
            <a:endParaRPr lang="en-IN" sz="23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IN" sz="2300" dirty="0">
                <a:latin typeface="Times New Roman" panose="02020603050405020304" pitchFamily="18" charset="0"/>
                <a:cs typeface="Times New Roman" panose="02020603050405020304" pitchFamily="18" charset="0"/>
              </a:rPr>
              <a:t>Book availability is difficult to track.</a:t>
            </a:r>
          </a:p>
          <a:p>
            <a:pPr marL="342900" indent="-342900">
              <a:buFont typeface="Wingdings" panose="05000000000000000000" pitchFamily="2" charset="2"/>
              <a:buChar char="Ø"/>
            </a:pPr>
            <a:endParaRPr lang="en-IN" sz="23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IN" sz="2300" dirty="0">
                <a:latin typeface="Times New Roman" panose="02020603050405020304" pitchFamily="18" charset="0"/>
                <a:cs typeface="Times New Roman" panose="02020603050405020304" pitchFamily="18" charset="0"/>
              </a:rPr>
              <a:t>Manual data entry can lead to human errors.</a:t>
            </a:r>
          </a:p>
          <a:p>
            <a:pPr marL="342900" indent="-342900">
              <a:buFont typeface="Wingdings" panose="05000000000000000000" pitchFamily="2" charset="2"/>
              <a:buChar char="Ø"/>
            </a:pPr>
            <a:endParaRPr lang="en-IN" sz="23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IN" sz="2300" dirty="0">
                <a:latin typeface="Times New Roman" panose="02020603050405020304" pitchFamily="18" charset="0"/>
                <a:cs typeface="Times New Roman" panose="02020603050405020304" pitchFamily="18" charset="0"/>
              </a:rPr>
              <a:t>Generating monthly or yearly reports requires additional manual work.</a:t>
            </a:r>
          </a:p>
          <a:p>
            <a:pPr marL="342900" indent="-342900">
              <a:buFont typeface="Wingdings" panose="05000000000000000000" pitchFamily="2" charset="2"/>
              <a:buChar char="Ø"/>
            </a:pPr>
            <a:endParaRPr lang="en-IN" sz="23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IN" sz="2300" dirty="0">
                <a:latin typeface="Times New Roman" panose="02020603050405020304" pitchFamily="18" charset="0"/>
                <a:cs typeface="Times New Roman" panose="02020603050405020304" pitchFamily="18" charset="0"/>
              </a:rPr>
              <a:t>It is difficult to identify most borrowed books.</a:t>
            </a:r>
          </a:p>
          <a:p>
            <a:endParaRPr lang="en-IN" sz="2400" dirty="0">
              <a:latin typeface="Times New Roman" panose="02020603050405020304" pitchFamily="18" charset="0"/>
              <a:cs typeface="Times New Roman" panose="02020603050405020304" pitchFamily="18" charset="0"/>
            </a:endParaRPr>
          </a:p>
        </p:txBody>
      </p:sp>
      <p:pic>
        <p:nvPicPr>
          <p:cNvPr id="17" name="object 3">
            <a:extLst>
              <a:ext uri="{FF2B5EF4-FFF2-40B4-BE49-F238E27FC236}">
                <a16:creationId xmlns:a16="http://schemas.microsoft.com/office/drawing/2014/main" id="{EED75953-77B8-EB79-983F-0DFB76BE35E9}"/>
              </a:ext>
            </a:extLst>
          </p:cNvPr>
          <p:cNvPicPr/>
          <p:nvPr/>
        </p:nvPicPr>
        <p:blipFill>
          <a:blip r:embed="rId5" cstate="print"/>
          <a:stretch>
            <a:fillRect/>
          </a:stretch>
        </p:blipFill>
        <p:spPr>
          <a:xfrm>
            <a:off x="290750" y="204311"/>
            <a:ext cx="1163002" cy="424338"/>
          </a:xfrm>
          <a:prstGeom prst="rect">
            <a:avLst/>
          </a:prstGeom>
        </p:spPr>
      </p:pic>
    </p:spTree>
    <p:extLst>
      <p:ext uri="{BB962C8B-B14F-4D97-AF65-F5344CB8AC3E}">
        <p14:creationId xmlns:p14="http://schemas.microsoft.com/office/powerpoint/2010/main" val="42738356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B25B97-4948-1D36-1564-48F015098A9E}"/>
            </a:ext>
          </a:extLst>
        </p:cNvPr>
        <p:cNvGrpSpPr/>
        <p:nvPr/>
      </p:nvGrpSpPr>
      <p:grpSpPr>
        <a:xfrm>
          <a:off x="0" y="0"/>
          <a:ext cx="0" cy="0"/>
          <a:chOff x="0" y="0"/>
          <a:chExt cx="0" cy="0"/>
        </a:xfrm>
      </p:grpSpPr>
      <p:sp>
        <p:nvSpPr>
          <p:cNvPr id="15" name="TextBox 14">
            <a:extLst>
              <a:ext uri="{FF2B5EF4-FFF2-40B4-BE49-F238E27FC236}">
                <a16:creationId xmlns:a16="http://schemas.microsoft.com/office/drawing/2014/main" id="{F6429C0E-D3D9-C6CC-7313-83F33EFBCF19}"/>
              </a:ext>
            </a:extLst>
          </p:cNvPr>
          <p:cNvSpPr txBox="1"/>
          <p:nvPr/>
        </p:nvSpPr>
        <p:spPr>
          <a:xfrm>
            <a:off x="4412373" y="321324"/>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ANALYSIS</a:t>
            </a:r>
          </a:p>
        </p:txBody>
      </p:sp>
      <p:sp>
        <p:nvSpPr>
          <p:cNvPr id="16" name="TextBox 15">
            <a:extLst>
              <a:ext uri="{FF2B5EF4-FFF2-40B4-BE49-F238E27FC236}">
                <a16:creationId xmlns:a16="http://schemas.microsoft.com/office/drawing/2014/main" id="{A35C976F-1965-A32D-B4DC-F0B4E4BC385C}"/>
              </a:ext>
            </a:extLst>
          </p:cNvPr>
          <p:cNvSpPr txBox="1"/>
          <p:nvPr/>
        </p:nvSpPr>
        <p:spPr>
          <a:xfrm>
            <a:off x="907173" y="838200"/>
            <a:ext cx="8534400" cy="4827284"/>
          </a:xfrm>
          <a:prstGeom prst="rect">
            <a:avLst/>
          </a:prstGeom>
          <a:noFill/>
        </p:spPr>
        <p:txBody>
          <a:bodyPr wrap="square" rtlCol="0">
            <a:spAutoFit/>
          </a:bodyPr>
          <a:lstStyle/>
          <a:p>
            <a:pPr algn="just">
              <a:lnSpc>
                <a:spcPct val="150000"/>
              </a:lnSpc>
              <a:spcBef>
                <a:spcPts val="1200"/>
              </a:spcBef>
            </a:pPr>
            <a:r>
              <a:rPr lang="en-US" sz="2400" b="1" u="sng" dirty="0">
                <a:latin typeface="Times New Roman" panose="02020603050405020304" pitchFamily="18" charset="0"/>
                <a:cs typeface="Times New Roman" panose="02020603050405020304" pitchFamily="18" charset="0"/>
              </a:rPr>
              <a:t>Limitations of Existing System:</a:t>
            </a:r>
            <a:endParaRPr lang="en-US" sz="2400" u="sng" dirty="0">
              <a:latin typeface="Times New Roman" panose="02020603050405020304" pitchFamily="18" charset="0"/>
              <a:cs typeface="Times New Roman" panose="02020603050405020304" pitchFamily="18" charset="0"/>
            </a:endParaRPr>
          </a:p>
          <a:p>
            <a:pPr marL="285750" indent="-285750" algn="just">
              <a:lnSpc>
                <a:spcPct val="150000"/>
              </a:lnSpc>
              <a:spcBef>
                <a:spcPts val="1200"/>
              </a:spcBef>
              <a:buFont typeface="Arial" panose="020B0604020202020204" pitchFamily="34" charset="0"/>
              <a:buChar char="•"/>
            </a:pPr>
            <a:r>
              <a:rPr lang="en-IN" sz="2300" dirty="0">
                <a:latin typeface="Times New Roman" panose="02020603050405020304" pitchFamily="18" charset="0"/>
                <a:cs typeface="Times New Roman" panose="02020603050405020304" pitchFamily="18" charset="0"/>
              </a:rPr>
              <a:t>Requires more manual work</a:t>
            </a:r>
          </a:p>
          <a:p>
            <a:pPr marL="285750" indent="-285750" algn="just">
              <a:lnSpc>
                <a:spcPct val="150000"/>
              </a:lnSpc>
              <a:spcBef>
                <a:spcPts val="1200"/>
              </a:spcBef>
              <a:buFont typeface="Arial" panose="020B0604020202020204" pitchFamily="34" charset="0"/>
              <a:buChar char="•"/>
            </a:pPr>
            <a:r>
              <a:rPr lang="en-IN" sz="2300" dirty="0">
                <a:latin typeface="Times New Roman" panose="02020603050405020304" pitchFamily="18" charset="0"/>
                <a:cs typeface="Times New Roman" panose="02020603050405020304" pitchFamily="18" charset="0"/>
              </a:rPr>
              <a:t>Maintaining large amount of data is difficult</a:t>
            </a:r>
          </a:p>
          <a:p>
            <a:pPr marL="285750" indent="-285750" algn="just">
              <a:lnSpc>
                <a:spcPct val="150000"/>
              </a:lnSpc>
              <a:spcBef>
                <a:spcPts val="1200"/>
              </a:spcBef>
              <a:buFont typeface="Arial" panose="020B0604020202020204" pitchFamily="34" charset="0"/>
              <a:buChar char="•"/>
            </a:pPr>
            <a:r>
              <a:rPr lang="en-IN" sz="2300" dirty="0">
                <a:latin typeface="Times New Roman" panose="02020603050405020304" pitchFamily="18" charset="0"/>
                <a:cs typeface="Times New Roman" panose="02020603050405020304" pitchFamily="18" charset="0"/>
              </a:rPr>
              <a:t>Searching records can be time-consuming</a:t>
            </a:r>
          </a:p>
          <a:p>
            <a:pPr marL="285750" indent="-285750" algn="just">
              <a:lnSpc>
                <a:spcPct val="150000"/>
              </a:lnSpc>
              <a:spcBef>
                <a:spcPts val="1200"/>
              </a:spcBef>
              <a:buFont typeface="Arial" panose="020B0604020202020204" pitchFamily="34" charset="0"/>
              <a:buChar char="•"/>
            </a:pPr>
            <a:r>
              <a:rPr lang="en-IN" sz="2300" dirty="0">
                <a:latin typeface="Times New Roman" panose="02020603050405020304" pitchFamily="18" charset="0"/>
                <a:cs typeface="Times New Roman" panose="02020603050405020304" pitchFamily="18" charset="0"/>
              </a:rPr>
              <a:t>Book availability is not always easy to track</a:t>
            </a:r>
          </a:p>
          <a:p>
            <a:pPr marL="285750" indent="-285750" algn="just">
              <a:lnSpc>
                <a:spcPct val="150000"/>
              </a:lnSpc>
              <a:spcBef>
                <a:spcPts val="1200"/>
              </a:spcBef>
              <a:buFont typeface="Arial" panose="020B0604020202020204" pitchFamily="34" charset="0"/>
              <a:buChar char="•"/>
            </a:pPr>
            <a:r>
              <a:rPr lang="en-IN" sz="2300" dirty="0">
                <a:latin typeface="Times New Roman" panose="02020603050405020304" pitchFamily="18" charset="0"/>
                <a:cs typeface="Times New Roman" panose="02020603050405020304" pitchFamily="18" charset="0"/>
              </a:rPr>
              <a:t>Higher possibility of human error</a:t>
            </a:r>
          </a:p>
          <a:p>
            <a:pPr marL="285750" indent="-285750" algn="just">
              <a:lnSpc>
                <a:spcPct val="150000"/>
              </a:lnSpc>
              <a:spcBef>
                <a:spcPts val="1200"/>
              </a:spcBef>
              <a:buFont typeface="Arial" panose="020B0604020202020204" pitchFamily="34" charset="0"/>
              <a:buChar char="•"/>
            </a:pPr>
            <a:r>
              <a:rPr lang="en-IN" sz="2300" dirty="0">
                <a:latin typeface="Times New Roman" panose="02020603050405020304" pitchFamily="18" charset="0"/>
                <a:cs typeface="Times New Roman" panose="02020603050405020304" pitchFamily="18" charset="0"/>
              </a:rPr>
              <a:t>Fine calculation may be performed manually</a:t>
            </a:r>
          </a:p>
        </p:txBody>
      </p:sp>
      <p:pic>
        <p:nvPicPr>
          <p:cNvPr id="17" name="object 3">
            <a:extLst>
              <a:ext uri="{FF2B5EF4-FFF2-40B4-BE49-F238E27FC236}">
                <a16:creationId xmlns:a16="http://schemas.microsoft.com/office/drawing/2014/main" id="{D28B387B-EB3D-FC8A-3A51-DDD2B8696A73}"/>
              </a:ext>
            </a:extLst>
          </p:cNvPr>
          <p:cNvPicPr/>
          <p:nvPr/>
        </p:nvPicPr>
        <p:blipFill>
          <a:blip r:embed="rId2" cstate="print"/>
          <a:stretch>
            <a:fillRect/>
          </a:stretch>
        </p:blipFill>
        <p:spPr>
          <a:xfrm>
            <a:off x="290750" y="204311"/>
            <a:ext cx="1163002" cy="424338"/>
          </a:xfrm>
          <a:prstGeom prst="rect">
            <a:avLst/>
          </a:prstGeom>
        </p:spPr>
      </p:pic>
    </p:spTree>
    <p:extLst>
      <p:ext uri="{BB962C8B-B14F-4D97-AF65-F5344CB8AC3E}">
        <p14:creationId xmlns:p14="http://schemas.microsoft.com/office/powerpoint/2010/main" val="16263364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D80E80D0-6F89-D49C-8F71-3B704975761E}"/>
              </a:ext>
            </a:extLst>
          </p:cNvPr>
          <p:cNvSpPr txBox="1"/>
          <p:nvPr/>
        </p:nvSpPr>
        <p:spPr>
          <a:xfrm>
            <a:off x="4412373" y="321324"/>
            <a:ext cx="5029200" cy="392415"/>
          </a:xfrm>
          <a:prstGeom prst="rect">
            <a:avLst/>
          </a:prstGeom>
          <a:noFill/>
        </p:spPr>
        <p:txBody>
          <a:bodyPr wrap="square">
            <a:spAutoFit/>
          </a:bodyPr>
          <a:lstStyle/>
          <a:p>
            <a:r>
              <a:rPr lang="en-IN" sz="1950" b="1" dirty="0">
                <a:solidFill>
                  <a:schemeClr val="bg1"/>
                </a:solidFill>
                <a:latin typeface="Palatino Linotype" panose="02040502050505030304" pitchFamily="18" charset="0"/>
              </a:rPr>
              <a:t>ANALYSIS</a:t>
            </a:r>
          </a:p>
        </p:txBody>
      </p:sp>
      <p:sp>
        <p:nvSpPr>
          <p:cNvPr id="16" name="TextBox 15">
            <a:extLst>
              <a:ext uri="{FF2B5EF4-FFF2-40B4-BE49-F238E27FC236}">
                <a16:creationId xmlns:a16="http://schemas.microsoft.com/office/drawing/2014/main" id="{85EA2366-D5A3-7AD8-E7B4-472C3227ADC8}"/>
              </a:ext>
            </a:extLst>
          </p:cNvPr>
          <p:cNvSpPr txBox="1"/>
          <p:nvPr/>
        </p:nvSpPr>
        <p:spPr>
          <a:xfrm>
            <a:off x="872938" y="977711"/>
            <a:ext cx="8312524" cy="5816977"/>
          </a:xfrm>
          <a:prstGeom prst="rect">
            <a:avLst/>
          </a:prstGeom>
          <a:noFill/>
        </p:spPr>
        <p:txBody>
          <a:bodyPr wrap="square" rtlCol="0">
            <a:spAutoFit/>
          </a:bodyPr>
          <a:lstStyle/>
          <a:p>
            <a:pPr algn="just">
              <a:lnSpc>
                <a:spcPct val="150000"/>
              </a:lnSpc>
            </a:pPr>
            <a:r>
              <a:rPr lang="en-IN" sz="2400" b="1" dirty="0">
                <a:latin typeface="Times New Roman" panose="02020603050405020304" pitchFamily="18" charset="0"/>
                <a:cs typeface="Times New Roman" panose="02020603050405020304" pitchFamily="18" charset="0"/>
              </a:rPr>
              <a:t>Proposed System :</a:t>
            </a:r>
          </a:p>
          <a:p>
            <a:pPr algn="just">
              <a:lnSpc>
                <a:spcPct val="150000"/>
              </a:lnSpc>
            </a:pPr>
            <a:endParaRPr lang="en-IN" sz="2400" b="1"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ü"/>
            </a:pPr>
            <a:r>
              <a:rPr lang="en-IN" sz="2300" dirty="0">
                <a:latin typeface="Times New Roman" panose="02020603050405020304" pitchFamily="18" charset="0"/>
                <a:cs typeface="Times New Roman" panose="02020603050405020304" pitchFamily="18" charset="0"/>
              </a:rPr>
              <a:t>Develop a </a:t>
            </a:r>
            <a:r>
              <a:rPr lang="en-IN" sz="2300" b="1" dirty="0">
                <a:latin typeface="Times New Roman" panose="02020603050405020304" pitchFamily="18" charset="0"/>
                <a:cs typeface="Times New Roman" panose="02020603050405020304" pitchFamily="18" charset="0"/>
              </a:rPr>
              <a:t>Library Management Data Analysis System</a:t>
            </a:r>
            <a:r>
              <a:rPr lang="en-IN" sz="2300" dirty="0">
                <a:latin typeface="Times New Roman" panose="02020603050405020304" pitchFamily="18" charset="0"/>
                <a:cs typeface="Times New Roman" panose="02020603050405020304" pitchFamily="18" charset="0"/>
              </a:rPr>
              <a:t> using Python.</a:t>
            </a:r>
          </a:p>
          <a:p>
            <a:pPr marL="342900" indent="-342900" algn="just">
              <a:buFont typeface="Wingdings" panose="05000000000000000000" pitchFamily="2" charset="2"/>
              <a:buChar char="ü"/>
            </a:pPr>
            <a:endParaRPr lang="en-IN" sz="23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ü"/>
            </a:pPr>
            <a:r>
              <a:rPr lang="en-IN" sz="2300" dirty="0"/>
              <a:t>It </a:t>
            </a:r>
            <a:r>
              <a:rPr lang="en-IN" sz="2300" dirty="0">
                <a:latin typeface="Times New Roman" panose="02020603050405020304" pitchFamily="18" charset="0"/>
                <a:cs typeface="Times New Roman" panose="02020603050405020304" pitchFamily="18" charset="0"/>
              </a:rPr>
              <a:t>Maintains</a:t>
            </a:r>
            <a:r>
              <a:rPr lang="en-IN" sz="2300" dirty="0"/>
              <a:t> </a:t>
            </a:r>
            <a:r>
              <a:rPr lang="en-IN" sz="2300" dirty="0">
                <a:latin typeface="Times New Roman" panose="02020603050405020304" pitchFamily="18" charset="0"/>
                <a:cs typeface="Times New Roman" panose="02020603050405020304" pitchFamily="18" charset="0"/>
              </a:rPr>
              <a:t>all library information in a centralized database</a:t>
            </a:r>
          </a:p>
          <a:p>
            <a:pPr marL="342900" indent="-342900" algn="just">
              <a:buFont typeface="Wingdings" panose="05000000000000000000" pitchFamily="2" charset="2"/>
              <a:buChar char="ü"/>
            </a:pPr>
            <a:endParaRPr lang="en-IN" sz="23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ü"/>
            </a:pPr>
            <a:r>
              <a:rPr lang="en-IN" sz="2300" dirty="0">
                <a:latin typeface="Times New Roman" panose="02020603050405020304" pitchFamily="18" charset="0"/>
                <a:cs typeface="Times New Roman" panose="02020603050405020304" pitchFamily="18" charset="0"/>
              </a:rPr>
              <a:t>It automatically tracks the book availability</a:t>
            </a:r>
          </a:p>
          <a:p>
            <a:pPr marL="342900" indent="-342900" algn="just">
              <a:buFont typeface="Wingdings" panose="05000000000000000000" pitchFamily="2" charset="2"/>
              <a:buChar char="ü"/>
            </a:pPr>
            <a:endParaRPr lang="en-IN" sz="23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ü"/>
            </a:pPr>
            <a:r>
              <a:rPr lang="en-IN" sz="2300" dirty="0">
                <a:latin typeface="Times New Roman" panose="02020603050405020304" pitchFamily="18" charset="0"/>
                <a:cs typeface="Times New Roman" panose="02020603050405020304" pitchFamily="18" charset="0"/>
              </a:rPr>
              <a:t>It improves the accuracy and security of library data</a:t>
            </a:r>
          </a:p>
          <a:p>
            <a:pPr marL="342900" indent="-342900" algn="just">
              <a:buFont typeface="Wingdings" panose="05000000000000000000" pitchFamily="2" charset="2"/>
              <a:buChar char="ü"/>
            </a:pPr>
            <a:endParaRPr lang="en-IN" sz="23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ü"/>
            </a:pPr>
            <a:r>
              <a:rPr lang="en-IN" sz="2300" dirty="0">
                <a:latin typeface="Times New Roman" panose="02020603050405020304" pitchFamily="18" charset="0"/>
                <a:cs typeface="Times New Roman" panose="02020603050405020304" pitchFamily="18" charset="0"/>
              </a:rPr>
              <a:t>It provides a search facility to quickly find books and members</a:t>
            </a:r>
          </a:p>
          <a:p>
            <a:pPr marL="342900" indent="-342900" algn="just">
              <a:buFont typeface="Wingdings" panose="05000000000000000000" pitchFamily="2" charset="2"/>
              <a:buChar char="ü"/>
            </a:pPr>
            <a:endParaRPr lang="en-IN" sz="23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ü"/>
            </a:pPr>
            <a:r>
              <a:rPr lang="en-IN" sz="2300" dirty="0">
                <a:latin typeface="Times New Roman" panose="02020603050405020304" pitchFamily="18" charset="0"/>
                <a:cs typeface="Times New Roman" panose="02020603050405020304" pitchFamily="18" charset="0"/>
              </a:rPr>
              <a:t>It represents information using charts, graphs, dashboards</a:t>
            </a:r>
            <a:br>
              <a:rPr lang="en-IN" sz="2400" dirty="0"/>
            </a:br>
            <a:endParaRPr lang="en-IN" sz="2400" dirty="0"/>
          </a:p>
        </p:txBody>
      </p:sp>
      <p:pic>
        <p:nvPicPr>
          <p:cNvPr id="17" name="object 3">
            <a:extLst>
              <a:ext uri="{FF2B5EF4-FFF2-40B4-BE49-F238E27FC236}">
                <a16:creationId xmlns:a16="http://schemas.microsoft.com/office/drawing/2014/main" id="{EED75953-77B8-EB79-983F-0DFB76BE35E9}"/>
              </a:ext>
            </a:extLst>
          </p:cNvPr>
          <p:cNvPicPr/>
          <p:nvPr/>
        </p:nvPicPr>
        <p:blipFill>
          <a:blip r:embed="rId2" cstate="print"/>
          <a:stretch>
            <a:fillRect/>
          </a:stretch>
        </p:blipFill>
        <p:spPr>
          <a:xfrm>
            <a:off x="290750" y="204311"/>
            <a:ext cx="1163002" cy="424338"/>
          </a:xfrm>
          <a:prstGeom prst="rect">
            <a:avLst/>
          </a:prstGeom>
        </p:spPr>
      </p:pic>
    </p:spTree>
    <p:extLst>
      <p:ext uri="{BB962C8B-B14F-4D97-AF65-F5344CB8AC3E}">
        <p14:creationId xmlns:p14="http://schemas.microsoft.com/office/powerpoint/2010/main" val="7092566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DBAB4E-4AAD-4C13-4E7B-0105C912C6A8}"/>
            </a:ext>
          </a:extLst>
        </p:cNvPr>
        <p:cNvGrpSpPr/>
        <p:nvPr/>
      </p:nvGrpSpPr>
      <p:grpSpPr>
        <a:xfrm>
          <a:off x="0" y="0"/>
          <a:ext cx="0" cy="0"/>
          <a:chOff x="0" y="0"/>
          <a:chExt cx="0" cy="0"/>
        </a:xfrm>
      </p:grpSpPr>
      <p:sp>
        <p:nvSpPr>
          <p:cNvPr id="15" name="TextBox 14">
            <a:extLst>
              <a:ext uri="{FF2B5EF4-FFF2-40B4-BE49-F238E27FC236}">
                <a16:creationId xmlns:a16="http://schemas.microsoft.com/office/drawing/2014/main" id="{F13178D4-61F9-5853-8A6D-D6E055786162}"/>
              </a:ext>
            </a:extLst>
          </p:cNvPr>
          <p:cNvSpPr txBox="1"/>
          <p:nvPr/>
        </p:nvSpPr>
        <p:spPr>
          <a:xfrm>
            <a:off x="4412373" y="321324"/>
            <a:ext cx="5029200" cy="392415"/>
          </a:xfrm>
          <a:prstGeom prst="rect">
            <a:avLst/>
          </a:prstGeom>
          <a:noFill/>
        </p:spPr>
        <p:txBody>
          <a:bodyPr wrap="square">
            <a:spAutoFit/>
          </a:bodyPr>
          <a:lstStyle/>
          <a:p>
            <a:r>
              <a:rPr lang="en-IN" sz="1950" b="1" dirty="0">
                <a:solidFill>
                  <a:schemeClr val="bg1"/>
                </a:solidFill>
                <a:latin typeface="Palatino Linotype" panose="02040502050505030304" pitchFamily="18" charset="0"/>
              </a:rPr>
              <a:t>ANALYSIS</a:t>
            </a:r>
          </a:p>
        </p:txBody>
      </p:sp>
      <p:sp>
        <p:nvSpPr>
          <p:cNvPr id="16" name="TextBox 15">
            <a:extLst>
              <a:ext uri="{FF2B5EF4-FFF2-40B4-BE49-F238E27FC236}">
                <a16:creationId xmlns:a16="http://schemas.microsoft.com/office/drawing/2014/main" id="{93B3CD0C-A7CB-95C0-6955-13BC451E97CB}"/>
              </a:ext>
            </a:extLst>
          </p:cNvPr>
          <p:cNvSpPr txBox="1"/>
          <p:nvPr/>
        </p:nvSpPr>
        <p:spPr>
          <a:xfrm>
            <a:off x="907676" y="914400"/>
            <a:ext cx="8565273" cy="5432256"/>
          </a:xfrm>
          <a:prstGeom prst="rect">
            <a:avLst/>
          </a:prstGeom>
          <a:noFill/>
        </p:spPr>
        <p:txBody>
          <a:bodyPr wrap="square" rtlCol="0">
            <a:spAutoFit/>
          </a:bodyPr>
          <a:lstStyle/>
          <a:p>
            <a:pPr algn="just"/>
            <a:r>
              <a:rPr lang="en-IN" sz="2400" b="1" dirty="0">
                <a:latin typeface="Times New Roman" panose="02020603050405020304" pitchFamily="18" charset="0"/>
                <a:cs typeface="Times New Roman" panose="02020603050405020304" pitchFamily="18" charset="0"/>
              </a:rPr>
              <a:t>Advantages :</a:t>
            </a:r>
          </a:p>
          <a:p>
            <a:pPr algn="just"/>
            <a:endParaRPr lang="en-IN" sz="2400" b="1"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IN" sz="2300" dirty="0">
                <a:latin typeface="Times New Roman" panose="02020603050405020304" pitchFamily="18" charset="0"/>
                <a:cs typeface="Times New Roman" panose="02020603050405020304" pitchFamily="18" charset="0"/>
              </a:rPr>
              <a:t>Reduces the manual work and paperwork</a:t>
            </a:r>
          </a:p>
          <a:p>
            <a:pPr marL="342900" indent="-342900" algn="just">
              <a:buFont typeface="Arial" panose="020B0604020202020204" pitchFamily="34" charset="0"/>
              <a:buChar char="•"/>
            </a:pPr>
            <a:endParaRPr lang="en-IN" sz="23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IN" sz="2300" dirty="0">
                <a:latin typeface="Times New Roman" panose="02020603050405020304" pitchFamily="18" charset="0"/>
                <a:cs typeface="Times New Roman" panose="02020603050405020304" pitchFamily="18" charset="0"/>
              </a:rPr>
              <a:t>Provides faster searching and record management</a:t>
            </a:r>
          </a:p>
          <a:p>
            <a:pPr marL="342900" indent="-342900" algn="just">
              <a:buFont typeface="Arial" panose="020B0604020202020204" pitchFamily="34" charset="0"/>
              <a:buChar char="•"/>
            </a:pPr>
            <a:endParaRPr lang="en-IN" sz="23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IN" sz="2300" dirty="0">
                <a:latin typeface="Times New Roman" panose="02020603050405020304" pitchFamily="18" charset="0"/>
                <a:cs typeface="Times New Roman" panose="02020603050405020304" pitchFamily="18" charset="0"/>
              </a:rPr>
              <a:t>Improves the data accuracy</a:t>
            </a:r>
          </a:p>
          <a:p>
            <a:pPr marL="342900" indent="-342900" algn="just">
              <a:buFont typeface="Arial" panose="020B0604020202020204" pitchFamily="34" charset="0"/>
              <a:buChar char="•"/>
            </a:pPr>
            <a:endParaRPr lang="en-IN" sz="23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IN" sz="2300" dirty="0">
                <a:latin typeface="Times New Roman" panose="02020603050405020304" pitchFamily="18" charset="0"/>
                <a:cs typeface="Times New Roman" panose="02020603050405020304" pitchFamily="18" charset="0"/>
              </a:rPr>
              <a:t>Generates reports quickly</a:t>
            </a:r>
          </a:p>
          <a:p>
            <a:pPr marL="342900" indent="-342900" algn="just">
              <a:buFont typeface="Arial" panose="020B0604020202020204" pitchFamily="34" charset="0"/>
              <a:buChar char="•"/>
            </a:pPr>
            <a:endParaRPr lang="en-IN" sz="23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IN" sz="2300" dirty="0">
                <a:latin typeface="Times New Roman" panose="02020603050405020304" pitchFamily="18" charset="0"/>
                <a:cs typeface="Times New Roman" panose="02020603050405020304" pitchFamily="18" charset="0"/>
              </a:rPr>
              <a:t>Saves time</a:t>
            </a:r>
          </a:p>
          <a:p>
            <a:pPr marL="342900" indent="-342900" algn="just">
              <a:buFont typeface="Arial" panose="020B0604020202020204" pitchFamily="34" charset="0"/>
              <a:buChar char="•"/>
            </a:pPr>
            <a:endParaRPr lang="en-IN" sz="23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IN" sz="2300" dirty="0">
                <a:latin typeface="Times New Roman" panose="02020603050405020304" pitchFamily="18" charset="0"/>
                <a:cs typeface="Times New Roman" panose="02020603050405020304" pitchFamily="18" charset="0"/>
              </a:rPr>
              <a:t>Improves library efficiency</a:t>
            </a:r>
          </a:p>
          <a:p>
            <a:pPr marL="342900" indent="-342900" algn="just">
              <a:buFont typeface="Arial" panose="020B0604020202020204" pitchFamily="34" charset="0"/>
              <a:buChar char="•"/>
            </a:pPr>
            <a:endParaRPr lang="en-IN" sz="23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IN" sz="2300" dirty="0">
                <a:latin typeface="Times New Roman" panose="02020603050405020304" pitchFamily="18" charset="0"/>
                <a:cs typeface="Times New Roman" panose="02020603050405020304" pitchFamily="18" charset="0"/>
              </a:rPr>
              <a:t>Easy book tracking</a:t>
            </a:r>
          </a:p>
        </p:txBody>
      </p:sp>
      <p:pic>
        <p:nvPicPr>
          <p:cNvPr id="17" name="object 3">
            <a:extLst>
              <a:ext uri="{FF2B5EF4-FFF2-40B4-BE49-F238E27FC236}">
                <a16:creationId xmlns:a16="http://schemas.microsoft.com/office/drawing/2014/main" id="{E6BB3D51-F986-BF46-8DD2-68F29CB912AF}"/>
              </a:ext>
            </a:extLst>
          </p:cNvPr>
          <p:cNvPicPr/>
          <p:nvPr/>
        </p:nvPicPr>
        <p:blipFill>
          <a:blip r:embed="rId2" cstate="print"/>
          <a:stretch>
            <a:fillRect/>
          </a:stretch>
        </p:blipFill>
        <p:spPr>
          <a:xfrm>
            <a:off x="290750" y="204311"/>
            <a:ext cx="1163002" cy="424338"/>
          </a:xfrm>
          <a:prstGeom prst="rect">
            <a:avLst/>
          </a:prstGeom>
        </p:spPr>
      </p:pic>
    </p:spTree>
    <p:extLst>
      <p:ext uri="{BB962C8B-B14F-4D97-AF65-F5344CB8AC3E}">
        <p14:creationId xmlns:p14="http://schemas.microsoft.com/office/powerpoint/2010/main" val="13748558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4944C-8816-A98A-BE5A-6A28E3D1316D}"/>
            </a:ext>
          </a:extLst>
        </p:cNvPr>
        <p:cNvGrpSpPr/>
        <p:nvPr/>
      </p:nvGrpSpPr>
      <p:grpSpPr>
        <a:xfrm>
          <a:off x="0" y="0"/>
          <a:ext cx="0" cy="0"/>
          <a:chOff x="0" y="0"/>
          <a:chExt cx="0" cy="0"/>
        </a:xfrm>
      </p:grpSpPr>
      <p:sp>
        <p:nvSpPr>
          <p:cNvPr id="15" name="TextBox 14">
            <a:extLst>
              <a:ext uri="{FF2B5EF4-FFF2-40B4-BE49-F238E27FC236}">
                <a16:creationId xmlns:a16="http://schemas.microsoft.com/office/drawing/2014/main" id="{C9CA7EE8-74F6-AF36-B9E5-7578E1237183}"/>
              </a:ext>
            </a:extLst>
          </p:cNvPr>
          <p:cNvSpPr txBox="1"/>
          <p:nvPr/>
        </p:nvSpPr>
        <p:spPr>
          <a:xfrm>
            <a:off x="4412373" y="321324"/>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ANALYSIS</a:t>
            </a:r>
          </a:p>
        </p:txBody>
      </p:sp>
      <p:pic>
        <p:nvPicPr>
          <p:cNvPr id="17" name="object 3">
            <a:extLst>
              <a:ext uri="{FF2B5EF4-FFF2-40B4-BE49-F238E27FC236}">
                <a16:creationId xmlns:a16="http://schemas.microsoft.com/office/drawing/2014/main" id="{97977331-EA1C-CA44-869F-6C400FF95B93}"/>
              </a:ext>
            </a:extLst>
          </p:cNvPr>
          <p:cNvPicPr/>
          <p:nvPr/>
        </p:nvPicPr>
        <p:blipFill>
          <a:blip r:embed="rId2" cstate="print"/>
          <a:stretch>
            <a:fillRect/>
          </a:stretch>
        </p:blipFill>
        <p:spPr>
          <a:xfrm>
            <a:off x="290750" y="204311"/>
            <a:ext cx="1163002" cy="424338"/>
          </a:xfrm>
          <a:prstGeom prst="rect">
            <a:avLst/>
          </a:prstGeom>
        </p:spPr>
      </p:pic>
      <p:pic>
        <p:nvPicPr>
          <p:cNvPr id="4" name="Picture 3">
            <a:extLst>
              <a:ext uri="{FF2B5EF4-FFF2-40B4-BE49-F238E27FC236}">
                <a16:creationId xmlns:a16="http://schemas.microsoft.com/office/drawing/2014/main" id="{F1453B7D-EFD1-F4D1-849D-375DFEADE7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0058400" cy="7772400"/>
          </a:xfrm>
          <a:prstGeom prst="rect">
            <a:avLst/>
          </a:prstGeom>
        </p:spPr>
      </p:pic>
    </p:spTree>
    <p:extLst>
      <p:ext uri="{BB962C8B-B14F-4D97-AF65-F5344CB8AC3E}">
        <p14:creationId xmlns:p14="http://schemas.microsoft.com/office/powerpoint/2010/main" val="35103787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3">
            <a:extLst>
              <a:ext uri="{FF2B5EF4-FFF2-40B4-BE49-F238E27FC236}">
                <a16:creationId xmlns:a16="http://schemas.microsoft.com/office/drawing/2014/main" id="{2B9EFFBF-7726-ED21-BD6C-4021B49E4438}"/>
              </a:ext>
            </a:extLst>
          </p:cNvPr>
          <p:cNvGrpSpPr/>
          <p:nvPr/>
        </p:nvGrpSpPr>
        <p:grpSpPr>
          <a:xfrm>
            <a:off x="2667000" y="85008"/>
            <a:ext cx="5103904" cy="1198311"/>
            <a:chOff x="2648188" y="47148"/>
            <a:chExt cx="5103904" cy="1198311"/>
          </a:xfrm>
        </p:grpSpPr>
        <p:pic>
          <p:nvPicPr>
            <p:cNvPr id="5" name="object 4">
              <a:extLst>
                <a:ext uri="{FF2B5EF4-FFF2-40B4-BE49-F238E27FC236}">
                  <a16:creationId xmlns:a16="http://schemas.microsoft.com/office/drawing/2014/main" id="{5359EAE0-4827-E1C6-F87E-DCB8892B4005}"/>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F4EE5AF0-F0A0-481E-EB59-2A06E92AC7E1}"/>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5FC53D65-7751-C01A-F243-C971B8A54510}"/>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92DCFA7B-7796-4FFE-22C4-D8D11B1128AC}"/>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5" name="TextBox 14">
            <a:extLst>
              <a:ext uri="{FF2B5EF4-FFF2-40B4-BE49-F238E27FC236}">
                <a16:creationId xmlns:a16="http://schemas.microsoft.com/office/drawing/2014/main" id="{D80E80D0-6F89-D49C-8F71-3B704975761E}"/>
              </a:ext>
            </a:extLst>
          </p:cNvPr>
          <p:cNvSpPr txBox="1"/>
          <p:nvPr/>
        </p:nvSpPr>
        <p:spPr>
          <a:xfrm>
            <a:off x="4038600" y="332823"/>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REQUIREMENTS</a:t>
            </a:r>
          </a:p>
        </p:txBody>
      </p:sp>
      <p:sp>
        <p:nvSpPr>
          <p:cNvPr id="16" name="TextBox 15">
            <a:extLst>
              <a:ext uri="{FF2B5EF4-FFF2-40B4-BE49-F238E27FC236}">
                <a16:creationId xmlns:a16="http://schemas.microsoft.com/office/drawing/2014/main" id="{85EA2366-D5A3-7AD8-E7B4-472C3227ADC8}"/>
              </a:ext>
            </a:extLst>
          </p:cNvPr>
          <p:cNvSpPr txBox="1"/>
          <p:nvPr/>
        </p:nvSpPr>
        <p:spPr>
          <a:xfrm>
            <a:off x="685800" y="934735"/>
            <a:ext cx="8305800" cy="5871607"/>
          </a:xfrm>
          <a:prstGeom prst="rect">
            <a:avLst/>
          </a:prstGeom>
          <a:noFill/>
        </p:spPr>
        <p:txBody>
          <a:bodyPr wrap="square" rtlCol="0">
            <a:spAutoFit/>
          </a:bodyPr>
          <a:lstStyle/>
          <a:p>
            <a:pPr algn="just">
              <a:lnSpc>
                <a:spcPct val="150000"/>
              </a:lnSpc>
            </a:pPr>
            <a:r>
              <a:rPr lang="en-IN" sz="2200" b="1" dirty="0">
                <a:latin typeface="Times New Roman" panose="02020603050405020304" pitchFamily="18" charset="0"/>
                <a:cs typeface="Times New Roman" panose="02020603050405020304" pitchFamily="18" charset="0"/>
              </a:rPr>
              <a:t>Hardware Requirements</a:t>
            </a:r>
          </a:p>
          <a:p>
            <a:pPr marL="285750" indent="-285750" algn="just">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Processor: Intel Core i3 or above</a:t>
            </a:r>
          </a:p>
          <a:p>
            <a:pPr marL="285750" indent="-285750" algn="just">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RAM: Minimum 4 GB</a:t>
            </a:r>
          </a:p>
          <a:p>
            <a:pPr marL="285750" indent="-285750" algn="just">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Storage: 10 GB free space</a:t>
            </a:r>
          </a:p>
          <a:p>
            <a:pPr marL="285750" indent="-285750" algn="just">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Input Devices: Keyboard, Mouse</a:t>
            </a:r>
          </a:p>
          <a:p>
            <a:pPr marL="285750" indent="-285750" algn="just">
              <a:lnSpc>
                <a:spcPct val="15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Output Device: Monitor, Printers</a:t>
            </a:r>
          </a:p>
          <a:p>
            <a:pPr algn="just">
              <a:lnSpc>
                <a:spcPct val="150000"/>
              </a:lnSpc>
            </a:pPr>
            <a:endParaRPr lang="en-IN" sz="1100" dirty="0">
              <a:latin typeface="Times New Roman" panose="02020603050405020304" pitchFamily="18" charset="0"/>
              <a:cs typeface="Times New Roman" panose="02020603050405020304" pitchFamily="18" charset="0"/>
            </a:endParaRPr>
          </a:p>
          <a:p>
            <a:pPr algn="just">
              <a:lnSpc>
                <a:spcPct val="150000"/>
              </a:lnSpc>
            </a:pPr>
            <a:r>
              <a:rPr lang="en-IN" sz="2200" b="1" dirty="0">
                <a:latin typeface="Times New Roman" panose="02020603050405020304" pitchFamily="18" charset="0"/>
                <a:cs typeface="Times New Roman" panose="02020603050405020304" pitchFamily="18" charset="0"/>
              </a:rPr>
              <a:t>Software Requirements</a:t>
            </a:r>
          </a:p>
          <a:p>
            <a:pPr marL="285750" indent="-285750" algn="just">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Operating System: Windows 10/11, Linux</a:t>
            </a:r>
          </a:p>
          <a:p>
            <a:pPr marL="285750" indent="-285750" algn="just">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Programming Language: python</a:t>
            </a:r>
          </a:p>
          <a:p>
            <a:pPr marL="285750" indent="-285750" algn="just">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IDE: Google Collab/ Jupyter Notebook/ Visual Studio Code</a:t>
            </a:r>
          </a:p>
          <a:p>
            <a:pPr marL="285750" indent="-285750" algn="just">
              <a:lnSpc>
                <a:spcPct val="150000"/>
              </a:lnSpc>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Libraries: Pandas, Numpy, Matplotlib</a:t>
            </a:r>
          </a:p>
        </p:txBody>
      </p:sp>
      <p:pic>
        <p:nvPicPr>
          <p:cNvPr id="17" name="object 3">
            <a:extLst>
              <a:ext uri="{FF2B5EF4-FFF2-40B4-BE49-F238E27FC236}">
                <a16:creationId xmlns:a16="http://schemas.microsoft.com/office/drawing/2014/main" id="{EED75953-77B8-EB79-983F-0DFB76BE35E9}"/>
              </a:ext>
            </a:extLst>
          </p:cNvPr>
          <p:cNvPicPr/>
          <p:nvPr/>
        </p:nvPicPr>
        <p:blipFill>
          <a:blip r:embed="rId5" cstate="print"/>
          <a:stretch>
            <a:fillRect/>
          </a:stretch>
        </p:blipFill>
        <p:spPr>
          <a:xfrm>
            <a:off x="290750" y="204311"/>
            <a:ext cx="1163002" cy="424338"/>
          </a:xfrm>
          <a:prstGeom prst="rect">
            <a:avLst/>
          </a:prstGeom>
        </p:spPr>
      </p:pic>
    </p:spTree>
    <p:extLst>
      <p:ext uri="{BB962C8B-B14F-4D97-AF65-F5344CB8AC3E}">
        <p14:creationId xmlns:p14="http://schemas.microsoft.com/office/powerpoint/2010/main" val="22720524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1271227-37A8-BD2E-DA5F-9D1409CD539E}"/>
              </a:ext>
            </a:extLst>
          </p:cNvPr>
          <p:cNvSpPr txBox="1"/>
          <p:nvPr/>
        </p:nvSpPr>
        <p:spPr>
          <a:xfrm>
            <a:off x="872251" y="890310"/>
            <a:ext cx="7924801" cy="539378"/>
          </a:xfrm>
          <a:prstGeom prst="rect">
            <a:avLst/>
          </a:prstGeom>
          <a:noFill/>
        </p:spPr>
        <p:txBody>
          <a:bodyPr wrap="square" rtlCol="0">
            <a:spAutoFit/>
          </a:bodyPr>
          <a:lstStyle/>
          <a:p>
            <a:pPr algn="just">
              <a:lnSpc>
                <a:spcPct val="150000"/>
              </a:lnSpc>
            </a:pPr>
            <a:r>
              <a:rPr lang="en-IN" sz="2200" b="1" dirty="0">
                <a:latin typeface="Times New Roman" panose="02020603050405020304" pitchFamily="18" charset="0"/>
                <a:cs typeface="Times New Roman" panose="02020603050405020304" pitchFamily="18" charset="0"/>
              </a:rPr>
              <a:t>Modules:</a:t>
            </a:r>
            <a:endParaRPr lang="en-IN" b="1" dirty="0">
              <a:latin typeface="Times New Roman" panose="02020603050405020304" pitchFamily="18" charset="0"/>
              <a:cs typeface="Times New Roman" panose="02020603050405020304" pitchFamily="18" charset="0"/>
            </a:endParaRPr>
          </a:p>
        </p:txBody>
      </p:sp>
      <p:grpSp>
        <p:nvGrpSpPr>
          <p:cNvPr id="5" name="object 3">
            <a:extLst>
              <a:ext uri="{FF2B5EF4-FFF2-40B4-BE49-F238E27FC236}">
                <a16:creationId xmlns:a16="http://schemas.microsoft.com/office/drawing/2014/main" id="{21ABBE52-8710-4E6B-00A1-6AE2E264A905}"/>
              </a:ext>
            </a:extLst>
          </p:cNvPr>
          <p:cNvGrpSpPr/>
          <p:nvPr/>
        </p:nvGrpSpPr>
        <p:grpSpPr>
          <a:xfrm>
            <a:off x="2590800" y="171693"/>
            <a:ext cx="5103904" cy="1198311"/>
            <a:chOff x="2648188" y="47148"/>
            <a:chExt cx="5103904" cy="1198311"/>
          </a:xfrm>
        </p:grpSpPr>
        <p:pic>
          <p:nvPicPr>
            <p:cNvPr id="6" name="object 4">
              <a:extLst>
                <a:ext uri="{FF2B5EF4-FFF2-40B4-BE49-F238E27FC236}">
                  <a16:creationId xmlns:a16="http://schemas.microsoft.com/office/drawing/2014/main" id="{BB01548A-FFE9-E3D8-12A9-78CF21156550}"/>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C2274CD8-F01F-9319-4AED-E01AFBB7B3F4}"/>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798807C2-A29E-0BF3-6CFE-592456DB3D5A}"/>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0012A6F5-DCDD-5346-54A8-BF352762053D}"/>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a16="http://schemas.microsoft.com/office/drawing/2014/main" id="{3953B3A5-B246-55AD-515B-436ED9F0D042}"/>
              </a:ext>
            </a:extLst>
          </p:cNvPr>
          <p:cNvSpPr txBox="1">
            <a:spLocks noGrp="1"/>
          </p:cNvSpPr>
          <p:nvPr>
            <p:ph type="title"/>
          </p:nvPr>
        </p:nvSpPr>
        <p:spPr>
          <a:xfrm>
            <a:off x="3945255" y="443189"/>
            <a:ext cx="2167890" cy="327660"/>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METHODOLOGY</a:t>
            </a:r>
          </a:p>
        </p:txBody>
      </p:sp>
      <p:pic>
        <p:nvPicPr>
          <p:cNvPr id="11" name="object 3">
            <a:extLst>
              <a:ext uri="{FF2B5EF4-FFF2-40B4-BE49-F238E27FC236}">
                <a16:creationId xmlns:a16="http://schemas.microsoft.com/office/drawing/2014/main" id="{A01798C2-99DE-A723-BAF6-CF11F4E8C1FC}"/>
              </a:ext>
            </a:extLst>
          </p:cNvPr>
          <p:cNvPicPr/>
          <p:nvPr/>
        </p:nvPicPr>
        <p:blipFill>
          <a:blip r:embed="rId6" cstate="print"/>
          <a:stretch>
            <a:fillRect/>
          </a:stretch>
        </p:blipFill>
        <p:spPr>
          <a:xfrm>
            <a:off x="290750" y="214907"/>
            <a:ext cx="1163002" cy="424338"/>
          </a:xfrm>
          <a:prstGeom prst="rect">
            <a:avLst/>
          </a:prstGeom>
        </p:spPr>
      </p:pic>
      <p:sp>
        <p:nvSpPr>
          <p:cNvPr id="12" name="TextBox 11">
            <a:extLst>
              <a:ext uri="{FF2B5EF4-FFF2-40B4-BE49-F238E27FC236}">
                <a16:creationId xmlns:a16="http://schemas.microsoft.com/office/drawing/2014/main" id="{2E698EF3-6CC5-CB2B-B3DF-1F2230442C23}"/>
              </a:ext>
            </a:extLst>
          </p:cNvPr>
          <p:cNvSpPr txBox="1"/>
          <p:nvPr/>
        </p:nvSpPr>
        <p:spPr>
          <a:xfrm>
            <a:off x="1453752" y="1450175"/>
            <a:ext cx="3048000" cy="6417141"/>
          </a:xfrm>
          <a:prstGeom prst="rect">
            <a:avLst/>
          </a:prstGeom>
          <a:noFill/>
        </p:spPr>
        <p:txBody>
          <a:bodyPr wrap="square">
            <a:spAutoFit/>
          </a:bodyPr>
          <a:lstStyle/>
          <a:p>
            <a:r>
              <a:rPr lang="en-US" sz="2000" b="1" dirty="0">
                <a:latin typeface="Times New Roman" panose="02020603050405020304" pitchFamily="18" charset="0"/>
                <a:cs typeface="Times New Roman" panose="02020603050405020304" pitchFamily="18" charset="0"/>
              </a:rPr>
              <a:t>Module 1</a:t>
            </a:r>
          </a:p>
          <a:p>
            <a:r>
              <a:rPr lang="en-US" dirty="0">
                <a:latin typeface="Times New Roman" panose="02020603050405020304" pitchFamily="18" charset="0"/>
                <a:cs typeface="Times New Roman" panose="02020603050405020304" pitchFamily="18" charset="0"/>
              </a:rPr>
              <a:t>Dataset Loading</a:t>
            </a:r>
          </a:p>
          <a:p>
            <a:r>
              <a:rPr lang="en-US" dirty="0">
                <a:latin typeface="Times New Roman" panose="02020603050405020304" pitchFamily="18" charset="0"/>
                <a:cs typeface="Times New Roman" panose="02020603050405020304" pitchFamily="18" charset="0"/>
              </a:rPr>
              <a:t>Import libraries</a:t>
            </a:r>
          </a:p>
          <a:p>
            <a:r>
              <a:rPr lang="en-US" dirty="0">
                <a:latin typeface="Times New Roman" panose="02020603050405020304" pitchFamily="18" charset="0"/>
                <a:cs typeface="Times New Roman" panose="02020603050405020304" pitchFamily="18" charset="0"/>
              </a:rPr>
              <a:t>Read CSV Files </a:t>
            </a:r>
          </a:p>
          <a:p>
            <a:r>
              <a:rPr lang="en-US" dirty="0">
                <a:latin typeface="Times New Roman" panose="02020603050405020304" pitchFamily="18" charset="0"/>
                <a:cs typeface="Times New Roman" panose="02020603050405020304" pitchFamily="18" charset="0"/>
              </a:rPr>
              <a:t>Load library dataset</a:t>
            </a:r>
          </a:p>
          <a:p>
            <a:r>
              <a:rPr lang="en-US" dirty="0">
                <a:latin typeface="Times New Roman" panose="02020603050405020304" pitchFamily="18" charset="0"/>
                <a:cs typeface="Times New Roman" panose="02020603050405020304" pitchFamily="18" charset="0"/>
              </a:rPr>
              <a:t>Display first rows</a:t>
            </a:r>
          </a:p>
          <a:p>
            <a:endParaRPr lang="en-US" sz="15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Module 2 </a:t>
            </a:r>
          </a:p>
          <a:p>
            <a:r>
              <a:rPr lang="en-US" dirty="0">
                <a:latin typeface="Times New Roman" panose="02020603050405020304" pitchFamily="18" charset="0"/>
                <a:cs typeface="Times New Roman" panose="02020603050405020304" pitchFamily="18" charset="0"/>
              </a:rPr>
              <a:t>Data Exploration</a:t>
            </a:r>
          </a:p>
          <a:p>
            <a:r>
              <a:rPr lang="en-US" dirty="0">
                <a:latin typeface="Times New Roman" panose="02020603050405020304" pitchFamily="18" charset="0"/>
                <a:cs typeface="Times New Roman" panose="02020603050405020304" pitchFamily="18" charset="0"/>
              </a:rPr>
              <a:t>Dataset Shape</a:t>
            </a:r>
          </a:p>
          <a:p>
            <a:r>
              <a:rPr lang="en-US" dirty="0">
                <a:latin typeface="Times New Roman" panose="02020603050405020304" pitchFamily="18" charset="0"/>
                <a:cs typeface="Times New Roman" panose="02020603050405020304" pitchFamily="18" charset="0"/>
              </a:rPr>
              <a:t>Column names</a:t>
            </a:r>
          </a:p>
          <a:p>
            <a:r>
              <a:rPr lang="en-US" dirty="0">
                <a:latin typeface="Times New Roman" panose="02020603050405020304" pitchFamily="18" charset="0"/>
                <a:cs typeface="Times New Roman" panose="02020603050405020304" pitchFamily="18" charset="0"/>
              </a:rPr>
              <a:t>Data types</a:t>
            </a:r>
          </a:p>
          <a:p>
            <a:r>
              <a:rPr lang="en-US" dirty="0">
                <a:latin typeface="Times New Roman" panose="02020603050405020304" pitchFamily="18" charset="0"/>
                <a:cs typeface="Times New Roman" panose="02020603050405020304" pitchFamily="18" charset="0"/>
              </a:rPr>
              <a:t>Missing values</a:t>
            </a:r>
          </a:p>
          <a:p>
            <a:r>
              <a:rPr lang="en-US" dirty="0">
                <a:latin typeface="Times New Roman" panose="02020603050405020304" pitchFamily="18" charset="0"/>
                <a:cs typeface="Times New Roman" panose="02020603050405020304" pitchFamily="18" charset="0"/>
              </a:rPr>
              <a:t>Statistical Summary</a:t>
            </a:r>
          </a:p>
          <a:p>
            <a:r>
              <a:rPr lang="en-US" dirty="0">
                <a:latin typeface="Times New Roman" panose="02020603050405020304" pitchFamily="18" charset="0"/>
                <a:cs typeface="Times New Roman" panose="02020603050405020304" pitchFamily="18" charset="0"/>
              </a:rPr>
              <a:t>Check duplicate records</a:t>
            </a:r>
          </a:p>
          <a:p>
            <a:endParaRPr lang="en-US" sz="15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Module 3</a:t>
            </a:r>
          </a:p>
          <a:p>
            <a:r>
              <a:rPr lang="en-US" dirty="0">
                <a:latin typeface="Times New Roman" panose="02020603050405020304" pitchFamily="18" charset="0"/>
                <a:cs typeface="Times New Roman" panose="02020603050405020304" pitchFamily="18" charset="0"/>
              </a:rPr>
              <a:t>Data Cleaning </a:t>
            </a:r>
          </a:p>
          <a:p>
            <a:r>
              <a:rPr lang="en-US" dirty="0">
                <a:latin typeface="Times New Roman" panose="02020603050405020304" pitchFamily="18" charset="0"/>
                <a:cs typeface="Times New Roman" panose="02020603050405020304" pitchFamily="18" charset="0"/>
              </a:rPr>
              <a:t>Handle missing values</a:t>
            </a:r>
          </a:p>
          <a:p>
            <a:r>
              <a:rPr lang="en-US" dirty="0">
                <a:latin typeface="Times New Roman" panose="02020603050405020304" pitchFamily="18" charset="0"/>
                <a:cs typeface="Times New Roman" panose="02020603050405020304" pitchFamily="18" charset="0"/>
              </a:rPr>
              <a:t>Remove duplicates</a:t>
            </a:r>
          </a:p>
          <a:p>
            <a:r>
              <a:rPr lang="en-US" dirty="0">
                <a:latin typeface="Times New Roman" panose="02020603050405020304" pitchFamily="18" charset="0"/>
                <a:cs typeface="Times New Roman" panose="02020603050405020304" pitchFamily="18" charset="0"/>
              </a:rPr>
              <a:t>Correct inconsistent data</a:t>
            </a:r>
          </a:p>
          <a:p>
            <a:r>
              <a:rPr lang="en-US" dirty="0">
                <a:latin typeface="Times New Roman" panose="02020603050405020304" pitchFamily="18" charset="0"/>
                <a:cs typeface="Times New Roman" panose="02020603050405020304" pitchFamily="18" charset="0"/>
              </a:rPr>
              <a:t>Handle incorrect values</a:t>
            </a:r>
          </a:p>
          <a:p>
            <a:endParaRPr lang="en-US" sz="1500" dirty="0"/>
          </a:p>
        </p:txBody>
      </p:sp>
    </p:spTree>
    <p:extLst>
      <p:ext uri="{BB962C8B-B14F-4D97-AF65-F5344CB8AC3E}">
        <p14:creationId xmlns:p14="http://schemas.microsoft.com/office/powerpoint/2010/main" val="3144958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FBE1A7-3004-3B9A-3BDF-6F0CD676F783}"/>
            </a:ext>
          </a:extLst>
        </p:cNvPr>
        <p:cNvGrpSpPr/>
        <p:nvPr/>
      </p:nvGrpSpPr>
      <p:grpSpPr>
        <a:xfrm>
          <a:off x="0" y="0"/>
          <a:ext cx="0" cy="0"/>
          <a:chOff x="0" y="0"/>
          <a:chExt cx="0" cy="0"/>
        </a:xfrm>
      </p:grpSpPr>
      <p:grpSp>
        <p:nvGrpSpPr>
          <p:cNvPr id="5" name="object 3">
            <a:extLst>
              <a:ext uri="{FF2B5EF4-FFF2-40B4-BE49-F238E27FC236}">
                <a16:creationId xmlns:a16="http://schemas.microsoft.com/office/drawing/2014/main" id="{D8057B3F-5DAB-DD41-AECE-F331B855040E}"/>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a16="http://schemas.microsoft.com/office/drawing/2014/main" id="{2087F558-D85F-5AC0-F454-1F63CE0A07E2}"/>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DA168F22-39BB-5B7D-3CF6-D85FE785C626}"/>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37D54020-DB2F-8565-330C-84D2218CC66C}"/>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9E7A54A0-4068-FC5A-C8B6-7CD6DED089A8}"/>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a16="http://schemas.microsoft.com/office/drawing/2014/main" id="{5F015672-148D-A104-60CF-C6A88B194918}"/>
              </a:ext>
            </a:extLst>
          </p:cNvPr>
          <p:cNvSpPr txBox="1">
            <a:spLocks noGrp="1"/>
          </p:cNvSpPr>
          <p:nvPr>
            <p:ph type="title"/>
          </p:nvPr>
        </p:nvSpPr>
        <p:spPr>
          <a:xfrm>
            <a:off x="3945255" y="432593"/>
            <a:ext cx="2167890" cy="327660"/>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METHODOLOGY</a:t>
            </a:r>
          </a:p>
        </p:txBody>
      </p:sp>
      <p:pic>
        <p:nvPicPr>
          <p:cNvPr id="11" name="object 3">
            <a:extLst>
              <a:ext uri="{FF2B5EF4-FFF2-40B4-BE49-F238E27FC236}">
                <a16:creationId xmlns:a16="http://schemas.microsoft.com/office/drawing/2014/main" id="{A6C365DC-19B7-1764-968A-F9C87D5E4951}"/>
              </a:ext>
            </a:extLst>
          </p:cNvPr>
          <p:cNvPicPr/>
          <p:nvPr/>
        </p:nvPicPr>
        <p:blipFill>
          <a:blip r:embed="rId6" cstate="print"/>
          <a:stretch>
            <a:fillRect/>
          </a:stretch>
        </p:blipFill>
        <p:spPr>
          <a:xfrm>
            <a:off x="290750" y="204311"/>
            <a:ext cx="1163002" cy="424338"/>
          </a:xfrm>
          <a:prstGeom prst="rect">
            <a:avLst/>
          </a:prstGeom>
        </p:spPr>
      </p:pic>
      <p:sp>
        <p:nvSpPr>
          <p:cNvPr id="12" name="TextBox 11">
            <a:extLst>
              <a:ext uri="{FF2B5EF4-FFF2-40B4-BE49-F238E27FC236}">
                <a16:creationId xmlns:a16="http://schemas.microsoft.com/office/drawing/2014/main" id="{6D4B64F4-A7BB-5C66-D262-C3B30131FC70}"/>
              </a:ext>
            </a:extLst>
          </p:cNvPr>
          <p:cNvSpPr txBox="1"/>
          <p:nvPr/>
        </p:nvSpPr>
        <p:spPr>
          <a:xfrm>
            <a:off x="1219200" y="939760"/>
            <a:ext cx="8610599" cy="6832640"/>
          </a:xfrm>
          <a:prstGeom prst="rect">
            <a:avLst/>
          </a:prstGeom>
          <a:noFill/>
        </p:spPr>
        <p:txBody>
          <a:bodyPr wrap="square">
            <a:spAutoFit/>
          </a:bodyPr>
          <a:lstStyle/>
          <a:p>
            <a:r>
              <a:rPr lang="en-IN" sz="2000" b="1" dirty="0">
                <a:latin typeface="Times New Roman" panose="02020603050405020304" pitchFamily="18" charset="0"/>
                <a:cs typeface="Times New Roman" panose="02020603050405020304" pitchFamily="18" charset="0"/>
              </a:rPr>
              <a:t>Module 4</a:t>
            </a:r>
          </a:p>
          <a:p>
            <a:r>
              <a:rPr lang="en-IN" dirty="0">
                <a:latin typeface="Times New Roman" panose="02020603050405020304" pitchFamily="18" charset="0"/>
                <a:cs typeface="Times New Roman" panose="02020603050405020304" pitchFamily="18" charset="0"/>
              </a:rPr>
              <a:t>Data Preprocessing</a:t>
            </a:r>
          </a:p>
          <a:p>
            <a:r>
              <a:rPr lang="en-IN" dirty="0">
                <a:latin typeface="Times New Roman" panose="02020603050405020304" pitchFamily="18" charset="0"/>
                <a:cs typeface="Times New Roman" panose="02020603050405020304" pitchFamily="18" charset="0"/>
              </a:rPr>
              <a:t>Convert data types</a:t>
            </a:r>
          </a:p>
          <a:p>
            <a:r>
              <a:rPr lang="en-IN" dirty="0">
                <a:latin typeface="Times New Roman" panose="02020603050405020304" pitchFamily="18" charset="0"/>
                <a:cs typeface="Times New Roman" panose="02020603050405020304" pitchFamily="18" charset="0"/>
              </a:rPr>
              <a:t>Encode categorical data</a:t>
            </a:r>
          </a:p>
          <a:p>
            <a:r>
              <a:rPr lang="en-IN" dirty="0">
                <a:latin typeface="Times New Roman" panose="02020603050405020304" pitchFamily="18" charset="0"/>
                <a:cs typeface="Times New Roman" panose="02020603050405020304" pitchFamily="18" charset="0"/>
              </a:rPr>
              <a:t>Feature selection</a:t>
            </a:r>
          </a:p>
          <a:p>
            <a:r>
              <a:rPr lang="en-IN" dirty="0">
                <a:latin typeface="Times New Roman" panose="02020603050405020304" pitchFamily="18" charset="0"/>
                <a:cs typeface="Times New Roman" panose="02020603050405020304" pitchFamily="18" charset="0"/>
              </a:rPr>
              <a:t>Date formatting</a:t>
            </a:r>
          </a:p>
          <a:p>
            <a:r>
              <a:rPr lang="en-IN" dirty="0">
                <a:latin typeface="Times New Roman" panose="02020603050405020304" pitchFamily="18" charset="0"/>
                <a:cs typeface="Times New Roman" panose="02020603050405020304" pitchFamily="18" charset="0"/>
              </a:rPr>
              <a:t>Prepare data for analysis</a:t>
            </a:r>
          </a:p>
          <a:p>
            <a:endParaRPr lang="en-IN" sz="2000"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Module 5</a:t>
            </a:r>
          </a:p>
          <a:p>
            <a:r>
              <a:rPr lang="en-IN" dirty="0">
                <a:latin typeface="Times New Roman" panose="02020603050405020304" pitchFamily="18" charset="0"/>
                <a:cs typeface="Times New Roman" panose="02020603050405020304" pitchFamily="18" charset="0"/>
              </a:rPr>
              <a:t>Exploratory Data Analysis</a:t>
            </a:r>
          </a:p>
          <a:p>
            <a:r>
              <a:rPr lang="en-IN" dirty="0">
                <a:latin typeface="Times New Roman" panose="02020603050405020304" pitchFamily="18" charset="0"/>
                <a:cs typeface="Times New Roman" panose="02020603050405020304" pitchFamily="18" charset="0"/>
              </a:rPr>
              <a:t>Visualize library data</a:t>
            </a:r>
          </a:p>
          <a:p>
            <a:r>
              <a:rPr lang="en-IN" dirty="0">
                <a:latin typeface="Times New Roman" panose="02020603050405020304" pitchFamily="18" charset="0"/>
                <a:cs typeface="Times New Roman" panose="02020603050405020304" pitchFamily="18" charset="0"/>
              </a:rPr>
              <a:t>Book availability</a:t>
            </a:r>
          </a:p>
          <a:p>
            <a:r>
              <a:rPr lang="en-IN" dirty="0">
                <a:latin typeface="Times New Roman" panose="02020603050405020304" pitchFamily="18" charset="0"/>
                <a:cs typeface="Times New Roman" panose="02020603050405020304" pitchFamily="18" charset="0"/>
              </a:rPr>
              <a:t>Book category Distribution</a:t>
            </a:r>
          </a:p>
          <a:p>
            <a:r>
              <a:rPr lang="en-IN" dirty="0">
                <a:latin typeface="Times New Roman" panose="02020603050405020304" pitchFamily="18" charset="0"/>
                <a:cs typeface="Times New Roman" panose="02020603050405020304" pitchFamily="18" charset="0"/>
              </a:rPr>
              <a:t>Most borrowed books</a:t>
            </a:r>
          </a:p>
          <a:p>
            <a:r>
              <a:rPr lang="en-IN" dirty="0">
                <a:latin typeface="Times New Roman" panose="02020603050405020304" pitchFamily="18" charset="0"/>
                <a:cs typeface="Times New Roman" panose="02020603050405020304" pitchFamily="18" charset="0"/>
              </a:rPr>
              <a:t>Active members</a:t>
            </a:r>
          </a:p>
          <a:p>
            <a:r>
              <a:rPr lang="en-IN" dirty="0">
                <a:latin typeface="Times New Roman" panose="02020603050405020304" pitchFamily="18" charset="0"/>
                <a:cs typeface="Times New Roman" panose="02020603050405020304" pitchFamily="18" charset="0"/>
              </a:rPr>
              <a:t>Monthly borrowing trends</a:t>
            </a:r>
          </a:p>
          <a:p>
            <a:r>
              <a:rPr lang="en-IN" dirty="0">
                <a:latin typeface="Times New Roman" panose="02020603050405020304" pitchFamily="18" charset="0"/>
                <a:cs typeface="Times New Roman" panose="02020603050405020304" pitchFamily="18" charset="0"/>
              </a:rPr>
              <a:t>Fine analysis</a:t>
            </a:r>
            <a:br>
              <a:rPr lang="en-IN" dirty="0"/>
            </a:br>
            <a:endParaRPr lang="en-IN" dirty="0"/>
          </a:p>
          <a:p>
            <a:r>
              <a:rPr lang="en-IN" sz="2000" b="1" dirty="0">
                <a:latin typeface="Times New Roman" panose="02020603050405020304" pitchFamily="18" charset="0"/>
                <a:cs typeface="Times New Roman" panose="02020603050405020304" pitchFamily="18" charset="0"/>
              </a:rPr>
              <a:t>Module 6</a:t>
            </a:r>
          </a:p>
          <a:p>
            <a:r>
              <a:rPr lang="en-IN" dirty="0">
                <a:latin typeface="Times New Roman" panose="02020603050405020304" pitchFamily="18" charset="0"/>
                <a:cs typeface="Times New Roman" panose="02020603050405020304" pitchFamily="18" charset="0"/>
              </a:rPr>
              <a:t>Library Data Analysis </a:t>
            </a:r>
          </a:p>
          <a:p>
            <a:r>
              <a:rPr lang="en-IN" dirty="0">
                <a:latin typeface="Times New Roman" panose="02020603050405020304" pitchFamily="18" charset="0"/>
                <a:cs typeface="Times New Roman" panose="02020603050405020304" pitchFamily="18" charset="0"/>
              </a:rPr>
              <a:t>Analyze borrowing patterns</a:t>
            </a:r>
          </a:p>
          <a:p>
            <a:r>
              <a:rPr lang="en-IN" dirty="0">
                <a:latin typeface="Times New Roman" panose="02020603050405020304" pitchFamily="18" charset="0"/>
                <a:cs typeface="Times New Roman" panose="02020603050405020304" pitchFamily="18" charset="0"/>
              </a:rPr>
              <a:t>Identify popular books </a:t>
            </a:r>
          </a:p>
          <a:p>
            <a:r>
              <a:rPr lang="en-IN" dirty="0">
                <a:latin typeface="Times New Roman" panose="02020603050405020304" pitchFamily="18" charset="0"/>
                <a:cs typeface="Times New Roman" panose="02020603050405020304" pitchFamily="18" charset="0"/>
              </a:rPr>
              <a:t>Identify popular categories</a:t>
            </a:r>
          </a:p>
          <a:p>
            <a:r>
              <a:rPr lang="en-IN" dirty="0">
                <a:latin typeface="Times New Roman" panose="02020603050405020304" pitchFamily="18" charset="0"/>
                <a:cs typeface="Times New Roman" panose="02020603050405020304" pitchFamily="18" charset="0"/>
              </a:rPr>
              <a:t>Analyze member activity</a:t>
            </a:r>
          </a:p>
        </p:txBody>
      </p:sp>
    </p:spTree>
    <p:extLst>
      <p:ext uri="{BB962C8B-B14F-4D97-AF65-F5344CB8AC3E}">
        <p14:creationId xmlns:p14="http://schemas.microsoft.com/office/powerpoint/2010/main" val="37442172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7ED09B-5845-AD00-F67F-0C5A1E544FD3}"/>
            </a:ext>
          </a:extLst>
        </p:cNvPr>
        <p:cNvGrpSpPr/>
        <p:nvPr/>
      </p:nvGrpSpPr>
      <p:grpSpPr>
        <a:xfrm>
          <a:off x="0" y="0"/>
          <a:ext cx="0" cy="0"/>
          <a:chOff x="0" y="0"/>
          <a:chExt cx="0" cy="0"/>
        </a:xfrm>
      </p:grpSpPr>
      <p:grpSp>
        <p:nvGrpSpPr>
          <p:cNvPr id="5" name="object 3">
            <a:extLst>
              <a:ext uri="{FF2B5EF4-FFF2-40B4-BE49-F238E27FC236}">
                <a16:creationId xmlns:a16="http://schemas.microsoft.com/office/drawing/2014/main" id="{C83EBFF7-4A71-CCC7-A042-06A7CD1F71B3}"/>
              </a:ext>
            </a:extLst>
          </p:cNvPr>
          <p:cNvGrpSpPr/>
          <p:nvPr/>
        </p:nvGrpSpPr>
        <p:grpSpPr>
          <a:xfrm>
            <a:off x="2590800" y="161097"/>
            <a:ext cx="5103904" cy="1198311"/>
            <a:chOff x="2648188" y="47148"/>
            <a:chExt cx="5103904" cy="1198311"/>
          </a:xfrm>
        </p:grpSpPr>
        <p:pic>
          <p:nvPicPr>
            <p:cNvPr id="6" name="object 4">
              <a:extLst>
                <a:ext uri="{FF2B5EF4-FFF2-40B4-BE49-F238E27FC236}">
                  <a16:creationId xmlns:a16="http://schemas.microsoft.com/office/drawing/2014/main" id="{036C91AA-3704-B6D2-D999-311C687F0978}"/>
                </a:ext>
              </a:extLst>
            </p:cNvPr>
            <p:cNvPicPr/>
            <p:nvPr/>
          </p:nvPicPr>
          <p:blipFill>
            <a:blip r:embed="rId3" cstate="print"/>
            <a:stretch>
              <a:fillRect/>
            </a:stretch>
          </p:blipFill>
          <p:spPr>
            <a:xfrm>
              <a:off x="2648188" y="47148"/>
              <a:ext cx="5103904" cy="1198311"/>
            </a:xfrm>
            <a:prstGeom prst="rect">
              <a:avLst/>
            </a:prstGeom>
          </p:spPr>
        </p:pic>
        <p:pic>
          <p:nvPicPr>
            <p:cNvPr id="7" name="object 5">
              <a:extLst>
                <a:ext uri="{FF2B5EF4-FFF2-40B4-BE49-F238E27FC236}">
                  <a16:creationId xmlns:a16="http://schemas.microsoft.com/office/drawing/2014/main" id="{85E782B9-1733-242C-E202-24CD68A368E5}"/>
                </a:ext>
              </a:extLst>
            </p:cNvPr>
            <p:cNvPicPr/>
            <p:nvPr/>
          </p:nvPicPr>
          <p:blipFill>
            <a:blip r:embed="rId4" cstate="print"/>
            <a:stretch>
              <a:fillRect/>
            </a:stretch>
          </p:blipFill>
          <p:spPr>
            <a:xfrm>
              <a:off x="2703195" y="86439"/>
              <a:ext cx="4997767" cy="1092279"/>
            </a:xfrm>
            <a:prstGeom prst="rect">
              <a:avLst/>
            </a:prstGeom>
          </p:spPr>
        </p:pic>
        <p:pic>
          <p:nvPicPr>
            <p:cNvPr id="8" name="object 6">
              <a:extLst>
                <a:ext uri="{FF2B5EF4-FFF2-40B4-BE49-F238E27FC236}">
                  <a16:creationId xmlns:a16="http://schemas.microsoft.com/office/drawing/2014/main" id="{B606EDA3-F759-8556-ADCB-BDEC7295C076}"/>
                </a:ext>
              </a:extLst>
            </p:cNvPr>
            <p:cNvPicPr/>
            <p:nvPr/>
          </p:nvPicPr>
          <p:blipFill>
            <a:blip r:embed="rId5" cstate="print"/>
            <a:stretch>
              <a:fillRect/>
            </a:stretch>
          </p:blipFill>
          <p:spPr>
            <a:xfrm>
              <a:off x="2828925" y="243549"/>
              <a:ext cx="4585268" cy="522565"/>
            </a:xfrm>
            <a:prstGeom prst="rect">
              <a:avLst/>
            </a:prstGeom>
          </p:spPr>
        </p:pic>
        <p:sp>
          <p:nvSpPr>
            <p:cNvPr id="9" name="object 7">
              <a:extLst>
                <a:ext uri="{FF2B5EF4-FFF2-40B4-BE49-F238E27FC236}">
                  <a16:creationId xmlns:a16="http://schemas.microsoft.com/office/drawing/2014/main" id="{32951073-D156-FC0E-E4EF-BDBF24587FFC}"/>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a:extLst>
              <a:ext uri="{FF2B5EF4-FFF2-40B4-BE49-F238E27FC236}">
                <a16:creationId xmlns:a16="http://schemas.microsoft.com/office/drawing/2014/main" id="{811977CD-FF43-10A4-5743-8692650A230F}"/>
              </a:ext>
            </a:extLst>
          </p:cNvPr>
          <p:cNvSpPr txBox="1">
            <a:spLocks noGrp="1"/>
          </p:cNvSpPr>
          <p:nvPr>
            <p:ph type="title"/>
          </p:nvPr>
        </p:nvSpPr>
        <p:spPr>
          <a:xfrm>
            <a:off x="3945255" y="432593"/>
            <a:ext cx="2167890" cy="327660"/>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METHODOLOGY</a:t>
            </a:r>
          </a:p>
        </p:txBody>
      </p:sp>
      <p:pic>
        <p:nvPicPr>
          <p:cNvPr id="11" name="object 3">
            <a:extLst>
              <a:ext uri="{FF2B5EF4-FFF2-40B4-BE49-F238E27FC236}">
                <a16:creationId xmlns:a16="http://schemas.microsoft.com/office/drawing/2014/main" id="{A340562B-780E-C3EF-D956-BD94CFCC4CD6}"/>
              </a:ext>
            </a:extLst>
          </p:cNvPr>
          <p:cNvPicPr/>
          <p:nvPr/>
        </p:nvPicPr>
        <p:blipFill>
          <a:blip r:embed="rId6" cstate="print"/>
          <a:stretch>
            <a:fillRect/>
          </a:stretch>
        </p:blipFill>
        <p:spPr>
          <a:xfrm>
            <a:off x="290750" y="204311"/>
            <a:ext cx="1163002" cy="424338"/>
          </a:xfrm>
          <a:prstGeom prst="rect">
            <a:avLst/>
          </a:prstGeom>
        </p:spPr>
      </p:pic>
      <p:sp>
        <p:nvSpPr>
          <p:cNvPr id="12" name="TextBox 11">
            <a:extLst>
              <a:ext uri="{FF2B5EF4-FFF2-40B4-BE49-F238E27FC236}">
                <a16:creationId xmlns:a16="http://schemas.microsoft.com/office/drawing/2014/main" id="{01270511-CF79-5D0E-EE5F-A38A48EE9F4B}"/>
              </a:ext>
            </a:extLst>
          </p:cNvPr>
          <p:cNvSpPr txBox="1"/>
          <p:nvPr/>
        </p:nvSpPr>
        <p:spPr>
          <a:xfrm>
            <a:off x="1219200" y="1429226"/>
            <a:ext cx="8610599" cy="4308872"/>
          </a:xfrm>
          <a:prstGeom prst="rect">
            <a:avLst/>
          </a:prstGeom>
          <a:noFill/>
        </p:spPr>
        <p:txBody>
          <a:bodyPr wrap="square">
            <a:spAutoFit/>
          </a:bodyPr>
          <a:lstStyle/>
          <a:p>
            <a:r>
              <a:rPr lang="en-US" sz="2000" b="1" dirty="0">
                <a:latin typeface="Times New Roman" panose="02020603050405020304" pitchFamily="18" charset="0"/>
                <a:cs typeface="Times New Roman" panose="02020603050405020304" pitchFamily="18" charset="0"/>
              </a:rPr>
              <a:t>Module 7</a:t>
            </a:r>
          </a:p>
          <a:p>
            <a:r>
              <a:rPr lang="en-US" dirty="0">
                <a:latin typeface="Times New Roman" panose="02020603050405020304" pitchFamily="18" charset="0"/>
                <a:cs typeface="Times New Roman" panose="02020603050405020304" pitchFamily="18" charset="0"/>
              </a:rPr>
              <a:t>Data Visualization &amp; Reports</a:t>
            </a:r>
          </a:p>
          <a:p>
            <a:r>
              <a:rPr lang="en-US" dirty="0">
                <a:latin typeface="Times New Roman" panose="02020603050405020304" pitchFamily="18" charset="0"/>
                <a:cs typeface="Times New Roman" panose="02020603050405020304" pitchFamily="18" charset="0"/>
              </a:rPr>
              <a:t>Bar charts</a:t>
            </a:r>
          </a:p>
          <a:p>
            <a:r>
              <a:rPr lang="en-US" dirty="0">
                <a:latin typeface="Times New Roman" panose="02020603050405020304" pitchFamily="18" charset="0"/>
                <a:cs typeface="Times New Roman" panose="02020603050405020304" pitchFamily="18" charset="0"/>
              </a:rPr>
              <a:t>Pie charts</a:t>
            </a:r>
          </a:p>
          <a:p>
            <a:r>
              <a:rPr lang="en-US" dirty="0">
                <a:latin typeface="Times New Roman" panose="02020603050405020304" pitchFamily="18" charset="0"/>
                <a:cs typeface="Times New Roman" panose="02020603050405020304" pitchFamily="18" charset="0"/>
              </a:rPr>
              <a:t>Line graphs</a:t>
            </a:r>
          </a:p>
          <a:p>
            <a:r>
              <a:rPr lang="en-US" dirty="0">
                <a:latin typeface="Times New Roman" panose="02020603050405020304" pitchFamily="18" charset="0"/>
                <a:cs typeface="Times New Roman" panose="02020603050405020304" pitchFamily="18" charset="0"/>
              </a:rPr>
              <a:t>Tables</a:t>
            </a:r>
          </a:p>
          <a:p>
            <a:r>
              <a:rPr lang="en-US" dirty="0">
                <a:latin typeface="Times New Roman" panose="02020603050405020304" pitchFamily="18" charset="0"/>
                <a:cs typeface="Times New Roman" panose="02020603050405020304" pitchFamily="18" charset="0"/>
              </a:rPr>
              <a:t>Generate summary reports</a:t>
            </a:r>
          </a:p>
          <a:p>
            <a:r>
              <a:rPr lang="en-US" dirty="0">
                <a:latin typeface="Times New Roman" panose="02020603050405020304" pitchFamily="18" charset="0"/>
                <a:cs typeface="Times New Roman" panose="02020603050405020304" pitchFamily="18" charset="0"/>
              </a:rPr>
              <a:t>Displays important library insights</a:t>
            </a:r>
          </a:p>
          <a:p>
            <a:endParaRPr lang="en-US"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Module 8</a:t>
            </a:r>
          </a:p>
          <a:p>
            <a:r>
              <a:rPr lang="en-US" dirty="0">
                <a:latin typeface="Times New Roman" panose="02020603050405020304" pitchFamily="18" charset="0"/>
                <a:cs typeface="Times New Roman" panose="02020603050405020304" pitchFamily="18" charset="0"/>
              </a:rPr>
              <a:t>Result &amp; Decision Making</a:t>
            </a:r>
          </a:p>
          <a:p>
            <a:r>
              <a:rPr lang="en-US" dirty="0">
                <a:latin typeface="Times New Roman" panose="02020603050405020304" pitchFamily="18" charset="0"/>
                <a:cs typeface="Times New Roman" panose="02020603050405020304" pitchFamily="18" charset="0"/>
              </a:rPr>
              <a:t>Interpret analysis results</a:t>
            </a:r>
          </a:p>
          <a:p>
            <a:r>
              <a:rPr lang="en-US" dirty="0">
                <a:latin typeface="Times New Roman" panose="02020603050405020304" pitchFamily="18" charset="0"/>
                <a:cs typeface="Times New Roman" panose="02020603050405020304" pitchFamily="18" charset="0"/>
              </a:rPr>
              <a:t>Identify library usage patterns</a:t>
            </a:r>
          </a:p>
          <a:p>
            <a:r>
              <a:rPr lang="en-US" dirty="0">
                <a:latin typeface="Times New Roman" panose="02020603050405020304" pitchFamily="18" charset="0"/>
                <a:cs typeface="Times New Roman" panose="02020603050405020304" pitchFamily="18" charset="0"/>
              </a:rPr>
              <a:t>Improves book management</a:t>
            </a:r>
          </a:p>
          <a:p>
            <a:r>
              <a:rPr lang="en-US" dirty="0">
                <a:latin typeface="Times New Roman" panose="02020603050405020304" pitchFamily="18" charset="0"/>
                <a:cs typeface="Times New Roman" panose="02020603050405020304" pitchFamily="18" charset="0"/>
              </a:rPr>
              <a:t>Supports better library decisions</a:t>
            </a:r>
          </a:p>
        </p:txBody>
      </p:sp>
    </p:spTree>
    <p:extLst>
      <p:ext uri="{BB962C8B-B14F-4D97-AF65-F5344CB8AC3E}">
        <p14:creationId xmlns:p14="http://schemas.microsoft.com/office/powerpoint/2010/main" val="4510031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object 3">
            <a:extLst>
              <a:ext uri="{FF2B5EF4-FFF2-40B4-BE49-F238E27FC236}">
                <a16:creationId xmlns:a16="http://schemas.microsoft.com/office/drawing/2014/main" id="{C3FAE399-D290-0353-08FF-9B9D6A27FECE}"/>
              </a:ext>
            </a:extLst>
          </p:cNvPr>
          <p:cNvPicPr/>
          <p:nvPr/>
        </p:nvPicPr>
        <p:blipFill>
          <a:blip r:embed="rId2" cstate="print"/>
          <a:stretch>
            <a:fillRect/>
          </a:stretch>
        </p:blipFill>
        <p:spPr>
          <a:xfrm>
            <a:off x="290750" y="204311"/>
            <a:ext cx="1163002" cy="424338"/>
          </a:xfrm>
          <a:prstGeom prst="rect">
            <a:avLst/>
          </a:prstGeom>
        </p:spPr>
      </p:pic>
      <p:sp>
        <p:nvSpPr>
          <p:cNvPr id="5" name="TextBox 4">
            <a:extLst>
              <a:ext uri="{FF2B5EF4-FFF2-40B4-BE49-F238E27FC236}">
                <a16:creationId xmlns:a16="http://schemas.microsoft.com/office/drawing/2014/main" id="{F0320C8D-3072-9050-8657-55920DFC1960}"/>
              </a:ext>
            </a:extLst>
          </p:cNvPr>
          <p:cNvSpPr txBox="1"/>
          <p:nvPr/>
        </p:nvSpPr>
        <p:spPr>
          <a:xfrm>
            <a:off x="609600" y="1036444"/>
            <a:ext cx="3886200" cy="646331"/>
          </a:xfrm>
          <a:prstGeom prst="rect">
            <a:avLst/>
          </a:prstGeom>
          <a:noFill/>
        </p:spPr>
        <p:txBody>
          <a:bodyPr wrap="square" rtlCol="0">
            <a:spAutoFit/>
          </a:bodyPr>
          <a:lstStyle/>
          <a:p>
            <a:r>
              <a:rPr lang="en-US" sz="3600" b="1" dirty="0">
                <a:latin typeface="Times New Roman" panose="02020603050405020304" pitchFamily="18" charset="0"/>
                <a:cs typeface="Times New Roman" panose="02020603050405020304" pitchFamily="18" charset="0"/>
              </a:rPr>
              <a:t>Overview :</a:t>
            </a:r>
            <a:endParaRPr lang="en-IN" sz="3600" b="1"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88FB512E-749B-1B12-6C8D-C6A0511F065F}"/>
              </a:ext>
            </a:extLst>
          </p:cNvPr>
          <p:cNvSpPr txBox="1"/>
          <p:nvPr/>
        </p:nvSpPr>
        <p:spPr>
          <a:xfrm>
            <a:off x="1295400" y="2095948"/>
            <a:ext cx="7783173" cy="4154984"/>
          </a:xfrm>
          <a:prstGeom prst="rect">
            <a:avLst/>
          </a:prstGeom>
          <a:noFill/>
        </p:spPr>
        <p:txBody>
          <a:bodyPr wrap="square" rtlCol="0">
            <a:spAutoFit/>
          </a:bodyPr>
          <a:lstStyle/>
          <a:p>
            <a:pPr algn="just"/>
            <a:r>
              <a:rPr lang="en-US" sz="2400" dirty="0">
                <a:latin typeface="Times New Roman" panose="02020603050405020304" pitchFamily="18" charset="0"/>
                <a:cs typeface="Times New Roman" panose="02020603050405020304" pitchFamily="18" charset="0"/>
              </a:rPr>
              <a:t>The Library Management Data Analysis System id designed to analyze library data and provide useful information about books, members, borrowing, and fines. The project uses Python and data analysis techniques to process the library dataset.</a:t>
            </a: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The system first loads and examines the dataset, then cleans and prepares the data for analysis. It analyzes important information such as book availability, most borrowed books, popular categories, active members, borrowing trends, overdue books, and fine amounts.</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0929550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736072-48CF-7A07-3283-0CB79F29AB1D}"/>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8C17C9B2-E7CC-1C9A-D7F8-2089A03BE5C7}"/>
              </a:ext>
            </a:extLst>
          </p:cNvPr>
          <p:cNvSpPr txBox="1"/>
          <p:nvPr/>
        </p:nvSpPr>
        <p:spPr>
          <a:xfrm>
            <a:off x="741759" y="1431219"/>
            <a:ext cx="8574881" cy="5632311"/>
          </a:xfrm>
          <a:prstGeom prst="rect">
            <a:avLst/>
          </a:prstGeom>
          <a:noFill/>
        </p:spPr>
        <p:txBody>
          <a:bodyPr wrap="square" rtlCol="0">
            <a:spAutoFit/>
          </a:bodyPr>
          <a:lstStyle/>
          <a:p>
            <a:pPr marL="342900" indent="-342900" algn="just">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Library dashboard</a:t>
            </a:r>
          </a:p>
          <a:p>
            <a:pPr algn="just"/>
            <a:endParaRPr lang="en-US" sz="24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ü"/>
            </a:pPr>
            <a:r>
              <a:rPr lang="en-IN" sz="2400" dirty="0">
                <a:latin typeface="Times New Roman" panose="02020603050405020304" pitchFamily="18" charset="0"/>
                <a:cs typeface="Times New Roman" panose="02020603050405020304" pitchFamily="18" charset="0"/>
              </a:rPr>
              <a:t>Book availability report</a:t>
            </a:r>
          </a:p>
          <a:p>
            <a:pPr marL="342900" indent="-342900" algn="just">
              <a:buFont typeface="Wingdings" panose="05000000000000000000" pitchFamily="2" charset="2"/>
              <a:buChar char="ü"/>
            </a:pPr>
            <a:endParaRPr lang="en-IN" sz="24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ü"/>
            </a:pPr>
            <a:r>
              <a:rPr lang="en-IN" sz="2400" dirty="0">
                <a:latin typeface="Times New Roman" panose="02020603050405020304" pitchFamily="18" charset="0"/>
                <a:cs typeface="Times New Roman" panose="02020603050405020304" pitchFamily="18" charset="0"/>
              </a:rPr>
              <a:t>Active Member report</a:t>
            </a:r>
          </a:p>
          <a:p>
            <a:pPr marL="342900" indent="-342900" algn="just">
              <a:buFont typeface="Wingdings" panose="05000000000000000000" pitchFamily="2" charset="2"/>
              <a:buChar char="ü"/>
            </a:pPr>
            <a:endParaRPr lang="en-IN" sz="24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ü"/>
            </a:pPr>
            <a:r>
              <a:rPr lang="en-IN" sz="2400" dirty="0">
                <a:latin typeface="Times New Roman" panose="02020603050405020304" pitchFamily="18" charset="0"/>
                <a:cs typeface="Times New Roman" panose="02020603050405020304" pitchFamily="18" charset="0"/>
              </a:rPr>
              <a:t>Book issue report</a:t>
            </a:r>
          </a:p>
          <a:p>
            <a:pPr marL="342900" indent="-342900" algn="just">
              <a:buFont typeface="Wingdings" panose="05000000000000000000" pitchFamily="2" charset="2"/>
              <a:buChar char="ü"/>
            </a:pPr>
            <a:endParaRPr lang="en-IN" sz="24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ü"/>
            </a:pPr>
            <a:r>
              <a:rPr lang="en-IN" sz="2400" dirty="0">
                <a:latin typeface="Times New Roman" panose="02020603050405020304" pitchFamily="18" charset="0"/>
                <a:cs typeface="Times New Roman" panose="02020603050405020304" pitchFamily="18" charset="0"/>
              </a:rPr>
              <a:t>Book return report</a:t>
            </a:r>
          </a:p>
          <a:p>
            <a:pPr marL="342900" indent="-342900" algn="just">
              <a:buFont typeface="Wingdings" panose="05000000000000000000" pitchFamily="2" charset="2"/>
              <a:buChar char="ü"/>
            </a:pPr>
            <a:endParaRPr lang="en-IN" sz="24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ü"/>
            </a:pPr>
            <a:r>
              <a:rPr lang="en-IN" sz="2400" dirty="0">
                <a:latin typeface="Times New Roman" panose="02020603050405020304" pitchFamily="18" charset="0"/>
                <a:cs typeface="Times New Roman" panose="02020603050405020304" pitchFamily="18" charset="0"/>
              </a:rPr>
              <a:t>Fine report</a:t>
            </a:r>
          </a:p>
          <a:p>
            <a:pPr marL="342900" indent="-342900" algn="just">
              <a:buFont typeface="Wingdings" panose="05000000000000000000" pitchFamily="2" charset="2"/>
              <a:buChar char="ü"/>
            </a:pPr>
            <a:endParaRPr lang="en-IN" sz="24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ü"/>
            </a:pPr>
            <a:r>
              <a:rPr lang="en-IN" sz="2400" dirty="0">
                <a:latin typeface="Times New Roman" panose="02020603050405020304" pitchFamily="18" charset="0"/>
                <a:cs typeface="Times New Roman" panose="02020603050405020304" pitchFamily="18" charset="0"/>
              </a:rPr>
              <a:t>Most borrowed books chart</a:t>
            </a:r>
          </a:p>
          <a:p>
            <a:pPr marL="342900" indent="-342900" algn="just">
              <a:buFont typeface="Wingdings" panose="05000000000000000000" pitchFamily="2" charset="2"/>
              <a:buChar char="ü"/>
            </a:pPr>
            <a:endParaRPr lang="en-IN" sz="24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ü"/>
            </a:pPr>
            <a:r>
              <a:rPr lang="en-IN" sz="2400" dirty="0">
                <a:latin typeface="Times New Roman" panose="02020603050405020304" pitchFamily="18" charset="0"/>
                <a:cs typeface="Times New Roman" panose="02020603050405020304" pitchFamily="18" charset="0"/>
              </a:rPr>
              <a:t>Charts and Graphs</a:t>
            </a:r>
          </a:p>
        </p:txBody>
      </p:sp>
      <p:grpSp>
        <p:nvGrpSpPr>
          <p:cNvPr id="7" name="object 3">
            <a:extLst>
              <a:ext uri="{FF2B5EF4-FFF2-40B4-BE49-F238E27FC236}">
                <a16:creationId xmlns:a16="http://schemas.microsoft.com/office/drawing/2014/main" id="{1D05E8A7-0BAB-CD52-0FC4-DBD8F083248D}"/>
              </a:ext>
            </a:extLst>
          </p:cNvPr>
          <p:cNvGrpSpPr/>
          <p:nvPr/>
        </p:nvGrpSpPr>
        <p:grpSpPr>
          <a:xfrm>
            <a:off x="2477248" y="152400"/>
            <a:ext cx="5103904" cy="1198311"/>
            <a:chOff x="2648188" y="47148"/>
            <a:chExt cx="5103904" cy="1198311"/>
          </a:xfrm>
        </p:grpSpPr>
        <p:pic>
          <p:nvPicPr>
            <p:cNvPr id="8" name="object 4">
              <a:extLst>
                <a:ext uri="{FF2B5EF4-FFF2-40B4-BE49-F238E27FC236}">
                  <a16:creationId xmlns:a16="http://schemas.microsoft.com/office/drawing/2014/main" id="{2B30C952-F60A-FB38-53A3-CC89BA08827C}"/>
                </a:ext>
              </a:extLst>
            </p:cNvPr>
            <p:cNvPicPr/>
            <p:nvPr/>
          </p:nvPicPr>
          <p:blipFill>
            <a:blip r:embed="rId2" cstate="print"/>
            <a:stretch>
              <a:fillRect/>
            </a:stretch>
          </p:blipFill>
          <p:spPr>
            <a:xfrm>
              <a:off x="2648188" y="47148"/>
              <a:ext cx="5103904" cy="1198311"/>
            </a:xfrm>
            <a:prstGeom prst="rect">
              <a:avLst/>
            </a:prstGeom>
          </p:spPr>
        </p:pic>
        <p:pic>
          <p:nvPicPr>
            <p:cNvPr id="9" name="object 5">
              <a:extLst>
                <a:ext uri="{FF2B5EF4-FFF2-40B4-BE49-F238E27FC236}">
                  <a16:creationId xmlns:a16="http://schemas.microsoft.com/office/drawing/2014/main" id="{7866CFA0-4F50-28F0-EFC2-86D038EB2112}"/>
                </a:ext>
              </a:extLst>
            </p:cNvPr>
            <p:cNvPicPr/>
            <p:nvPr/>
          </p:nvPicPr>
          <p:blipFill>
            <a:blip r:embed="rId3" cstate="print"/>
            <a:stretch>
              <a:fillRect/>
            </a:stretch>
          </p:blipFill>
          <p:spPr>
            <a:xfrm>
              <a:off x="2703195" y="86439"/>
              <a:ext cx="4997767" cy="1092279"/>
            </a:xfrm>
            <a:prstGeom prst="rect">
              <a:avLst/>
            </a:prstGeom>
          </p:spPr>
        </p:pic>
        <p:pic>
          <p:nvPicPr>
            <p:cNvPr id="10" name="object 6">
              <a:extLst>
                <a:ext uri="{FF2B5EF4-FFF2-40B4-BE49-F238E27FC236}">
                  <a16:creationId xmlns:a16="http://schemas.microsoft.com/office/drawing/2014/main" id="{3F09A4D8-A400-E0F8-0CA6-063B8B882E67}"/>
                </a:ext>
              </a:extLst>
            </p:cNvPr>
            <p:cNvPicPr/>
            <p:nvPr/>
          </p:nvPicPr>
          <p:blipFill>
            <a:blip r:embed="rId4" cstate="print"/>
            <a:stretch>
              <a:fillRect/>
            </a:stretch>
          </p:blipFill>
          <p:spPr>
            <a:xfrm>
              <a:off x="2828925" y="243549"/>
              <a:ext cx="4585268" cy="522565"/>
            </a:xfrm>
            <a:prstGeom prst="rect">
              <a:avLst/>
            </a:prstGeom>
          </p:spPr>
        </p:pic>
        <p:sp>
          <p:nvSpPr>
            <p:cNvPr id="11" name="object 7">
              <a:extLst>
                <a:ext uri="{FF2B5EF4-FFF2-40B4-BE49-F238E27FC236}">
                  <a16:creationId xmlns:a16="http://schemas.microsoft.com/office/drawing/2014/main" id="{F8E97D79-7FA8-D140-E726-79CFA9A5B812}"/>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2" name="object 9">
            <a:extLst>
              <a:ext uri="{FF2B5EF4-FFF2-40B4-BE49-F238E27FC236}">
                <a16:creationId xmlns:a16="http://schemas.microsoft.com/office/drawing/2014/main" id="{E0F701E1-161B-537E-CE8F-F2E5197F401F}"/>
              </a:ext>
            </a:extLst>
          </p:cNvPr>
          <p:cNvSpPr txBox="1">
            <a:spLocks noGrp="1"/>
          </p:cNvSpPr>
          <p:nvPr>
            <p:ph type="title"/>
          </p:nvPr>
        </p:nvSpPr>
        <p:spPr>
          <a:xfrm>
            <a:off x="3945254" y="432593"/>
            <a:ext cx="2607945" cy="316753"/>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EXPECTED OUTPUTS</a:t>
            </a:r>
          </a:p>
        </p:txBody>
      </p:sp>
      <p:pic>
        <p:nvPicPr>
          <p:cNvPr id="13" name="object 3">
            <a:extLst>
              <a:ext uri="{FF2B5EF4-FFF2-40B4-BE49-F238E27FC236}">
                <a16:creationId xmlns:a16="http://schemas.microsoft.com/office/drawing/2014/main" id="{F12DBFE6-BE52-C24E-9E8E-C14765A305F3}"/>
              </a:ext>
            </a:extLst>
          </p:cNvPr>
          <p:cNvPicPr/>
          <p:nvPr/>
        </p:nvPicPr>
        <p:blipFill>
          <a:blip r:embed="rId5" cstate="print"/>
          <a:stretch>
            <a:fillRect/>
          </a:stretch>
        </p:blipFill>
        <p:spPr>
          <a:xfrm>
            <a:off x="290750" y="204311"/>
            <a:ext cx="1163002" cy="424338"/>
          </a:xfrm>
          <a:prstGeom prst="rect">
            <a:avLst/>
          </a:prstGeom>
        </p:spPr>
      </p:pic>
    </p:spTree>
    <p:extLst>
      <p:ext uri="{BB962C8B-B14F-4D97-AF65-F5344CB8AC3E}">
        <p14:creationId xmlns:p14="http://schemas.microsoft.com/office/powerpoint/2010/main" val="394205972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ABB4592-5775-79D7-4F02-0BE4F7025B51}"/>
              </a:ext>
            </a:extLst>
          </p:cNvPr>
          <p:cNvSpPr txBox="1"/>
          <p:nvPr/>
        </p:nvSpPr>
        <p:spPr>
          <a:xfrm>
            <a:off x="872251" y="1423788"/>
            <a:ext cx="8574881" cy="3693319"/>
          </a:xfrm>
          <a:prstGeom prst="rect">
            <a:avLst/>
          </a:prstGeom>
          <a:noFill/>
        </p:spPr>
        <p:txBody>
          <a:bodyPr wrap="square" rtlCol="0">
            <a:spAutoFit/>
          </a:bodyPr>
          <a:lstStyle/>
          <a:p>
            <a:pPr algn="just"/>
            <a:r>
              <a:rPr lang="en-US" sz="2600" dirty="0">
                <a:latin typeface="Times New Roman" panose="02020603050405020304" pitchFamily="18" charset="0"/>
                <a:cs typeface="Times New Roman" panose="02020603050405020304" pitchFamily="18" charset="0"/>
              </a:rPr>
              <a:t>The Library management data Analysis System provides an efficient and Organized way to manage library operations and analyze library data. The system helps maintain book and member records, track book issues and returns, monitor overdue books, and manage fines with less manual effort.</a:t>
            </a:r>
          </a:p>
          <a:p>
            <a:pPr algn="just"/>
            <a:endParaRPr lang="en-US" sz="2600" dirty="0">
              <a:latin typeface="Times New Roman" panose="02020603050405020304" pitchFamily="18" charset="0"/>
              <a:cs typeface="Times New Roman" panose="02020603050405020304" pitchFamily="18" charset="0"/>
            </a:endParaRPr>
          </a:p>
          <a:p>
            <a:pPr algn="just"/>
            <a:r>
              <a:rPr lang="en-US" sz="2600" dirty="0">
                <a:latin typeface="Times New Roman" panose="02020603050405020304" pitchFamily="18" charset="0"/>
                <a:cs typeface="Times New Roman" panose="02020603050405020304" pitchFamily="18" charset="0"/>
              </a:rPr>
              <a:t>Overall, the proposed system reduces paperwork, minimizes human errors, saves time, improves data management and provides useful insights for effective library administration.</a:t>
            </a:r>
            <a:endParaRPr lang="en-IN" sz="2600" dirty="0">
              <a:latin typeface="Times New Roman" panose="02020603050405020304" pitchFamily="18" charset="0"/>
              <a:cs typeface="Times New Roman" panose="02020603050405020304" pitchFamily="18" charset="0"/>
            </a:endParaRPr>
          </a:p>
        </p:txBody>
      </p:sp>
      <p:grpSp>
        <p:nvGrpSpPr>
          <p:cNvPr id="7" name="object 3">
            <a:extLst>
              <a:ext uri="{FF2B5EF4-FFF2-40B4-BE49-F238E27FC236}">
                <a16:creationId xmlns:a16="http://schemas.microsoft.com/office/drawing/2014/main" id="{20B8B724-A73F-F006-222B-6A4FF27EB83E}"/>
              </a:ext>
            </a:extLst>
          </p:cNvPr>
          <p:cNvGrpSpPr/>
          <p:nvPr/>
        </p:nvGrpSpPr>
        <p:grpSpPr>
          <a:xfrm>
            <a:off x="2477248" y="152400"/>
            <a:ext cx="5103904" cy="1198311"/>
            <a:chOff x="2648188" y="47148"/>
            <a:chExt cx="5103904" cy="1198311"/>
          </a:xfrm>
        </p:grpSpPr>
        <p:pic>
          <p:nvPicPr>
            <p:cNvPr id="8" name="object 4">
              <a:extLst>
                <a:ext uri="{FF2B5EF4-FFF2-40B4-BE49-F238E27FC236}">
                  <a16:creationId xmlns:a16="http://schemas.microsoft.com/office/drawing/2014/main" id="{8D96FE08-6C48-29F6-B8BF-733A1FE4EFC2}"/>
                </a:ext>
              </a:extLst>
            </p:cNvPr>
            <p:cNvPicPr/>
            <p:nvPr/>
          </p:nvPicPr>
          <p:blipFill>
            <a:blip r:embed="rId2" cstate="print"/>
            <a:stretch>
              <a:fillRect/>
            </a:stretch>
          </p:blipFill>
          <p:spPr>
            <a:xfrm>
              <a:off x="2648188" y="47148"/>
              <a:ext cx="5103904" cy="1198311"/>
            </a:xfrm>
            <a:prstGeom prst="rect">
              <a:avLst/>
            </a:prstGeom>
          </p:spPr>
        </p:pic>
        <p:pic>
          <p:nvPicPr>
            <p:cNvPr id="9" name="object 5">
              <a:extLst>
                <a:ext uri="{FF2B5EF4-FFF2-40B4-BE49-F238E27FC236}">
                  <a16:creationId xmlns:a16="http://schemas.microsoft.com/office/drawing/2014/main" id="{F663E0BF-F2C3-9990-10F0-85152F3B7499}"/>
                </a:ext>
              </a:extLst>
            </p:cNvPr>
            <p:cNvPicPr/>
            <p:nvPr/>
          </p:nvPicPr>
          <p:blipFill>
            <a:blip r:embed="rId3" cstate="print"/>
            <a:stretch>
              <a:fillRect/>
            </a:stretch>
          </p:blipFill>
          <p:spPr>
            <a:xfrm>
              <a:off x="2703195" y="86439"/>
              <a:ext cx="4997767" cy="1092279"/>
            </a:xfrm>
            <a:prstGeom prst="rect">
              <a:avLst/>
            </a:prstGeom>
          </p:spPr>
        </p:pic>
        <p:pic>
          <p:nvPicPr>
            <p:cNvPr id="10" name="object 6">
              <a:extLst>
                <a:ext uri="{FF2B5EF4-FFF2-40B4-BE49-F238E27FC236}">
                  <a16:creationId xmlns:a16="http://schemas.microsoft.com/office/drawing/2014/main" id="{AF92C391-8A67-101D-C7DE-D42721562E91}"/>
                </a:ext>
              </a:extLst>
            </p:cNvPr>
            <p:cNvPicPr/>
            <p:nvPr/>
          </p:nvPicPr>
          <p:blipFill>
            <a:blip r:embed="rId4" cstate="print"/>
            <a:stretch>
              <a:fillRect/>
            </a:stretch>
          </p:blipFill>
          <p:spPr>
            <a:xfrm>
              <a:off x="2828925" y="243549"/>
              <a:ext cx="4585268" cy="522565"/>
            </a:xfrm>
            <a:prstGeom prst="rect">
              <a:avLst/>
            </a:prstGeom>
          </p:spPr>
        </p:pic>
        <p:sp>
          <p:nvSpPr>
            <p:cNvPr id="11" name="object 7">
              <a:extLst>
                <a:ext uri="{FF2B5EF4-FFF2-40B4-BE49-F238E27FC236}">
                  <a16:creationId xmlns:a16="http://schemas.microsoft.com/office/drawing/2014/main" id="{5C67209A-2109-EE49-1C12-165FDE2056AC}"/>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2" name="object 9">
            <a:extLst>
              <a:ext uri="{FF2B5EF4-FFF2-40B4-BE49-F238E27FC236}">
                <a16:creationId xmlns:a16="http://schemas.microsoft.com/office/drawing/2014/main" id="{F513CBE2-66AF-A982-0CC5-B24C79BA9503}"/>
              </a:ext>
            </a:extLst>
          </p:cNvPr>
          <p:cNvSpPr txBox="1">
            <a:spLocks noGrp="1"/>
          </p:cNvSpPr>
          <p:nvPr>
            <p:ph type="title"/>
          </p:nvPr>
        </p:nvSpPr>
        <p:spPr>
          <a:xfrm>
            <a:off x="3945255" y="432593"/>
            <a:ext cx="2167890" cy="327660"/>
          </a:xfrm>
          <a:prstGeom prst="rect">
            <a:avLst/>
          </a:prstGeom>
        </p:spPr>
        <p:txBody>
          <a:bodyPr vert="horz" wrap="square" lIns="0" tIns="16510" rIns="0" bIns="0" rtlCol="0">
            <a:spAutoFit/>
          </a:bodyPr>
          <a:lstStyle/>
          <a:p>
            <a:pPr marL="12700">
              <a:lnSpc>
                <a:spcPct val="100000"/>
              </a:lnSpc>
              <a:spcBef>
                <a:spcPts val="130"/>
              </a:spcBef>
            </a:pPr>
            <a:r>
              <a:rPr lang="en-IN" sz="1950" dirty="0">
                <a:solidFill>
                  <a:schemeClr val="bg1"/>
                </a:solidFill>
                <a:latin typeface="Times New Roman" panose="02020603050405020304" pitchFamily="18" charset="0"/>
                <a:cs typeface="Times New Roman" panose="02020603050405020304" pitchFamily="18" charset="0"/>
              </a:rPr>
              <a:t>CONCLUSION</a:t>
            </a:r>
          </a:p>
        </p:txBody>
      </p:sp>
      <p:pic>
        <p:nvPicPr>
          <p:cNvPr id="13" name="object 3">
            <a:extLst>
              <a:ext uri="{FF2B5EF4-FFF2-40B4-BE49-F238E27FC236}">
                <a16:creationId xmlns:a16="http://schemas.microsoft.com/office/drawing/2014/main" id="{A2CEDFE4-2383-831F-CDEE-1CF3B0215E16}"/>
              </a:ext>
            </a:extLst>
          </p:cNvPr>
          <p:cNvPicPr/>
          <p:nvPr/>
        </p:nvPicPr>
        <p:blipFill>
          <a:blip r:embed="rId5" cstate="print"/>
          <a:stretch>
            <a:fillRect/>
          </a:stretch>
        </p:blipFill>
        <p:spPr>
          <a:xfrm>
            <a:off x="290750" y="204311"/>
            <a:ext cx="1163002" cy="424338"/>
          </a:xfrm>
          <a:prstGeom prst="rect">
            <a:avLst/>
          </a:prstGeom>
        </p:spPr>
      </p:pic>
    </p:spTree>
    <p:extLst>
      <p:ext uri="{BB962C8B-B14F-4D97-AF65-F5344CB8AC3E}">
        <p14:creationId xmlns:p14="http://schemas.microsoft.com/office/powerpoint/2010/main" val="269419278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5B32A-9B14-7FA0-D59B-AF32355B7813}"/>
              </a:ext>
            </a:extLst>
          </p:cNvPr>
          <p:cNvSpPr>
            <a:spLocks noGrp="1"/>
          </p:cNvSpPr>
          <p:nvPr>
            <p:ph type="ctrTitle"/>
          </p:nvPr>
        </p:nvSpPr>
        <p:spPr>
          <a:xfrm>
            <a:off x="3200400" y="3352800"/>
            <a:ext cx="4038600" cy="738664"/>
          </a:xfrm>
        </p:spPr>
        <p:txBody>
          <a:bodyPr/>
          <a:lstStyle/>
          <a:p>
            <a:r>
              <a:rPr lang="en-IN" sz="4800" dirty="0">
                <a:solidFill>
                  <a:schemeClr val="accent6">
                    <a:lumMod val="75000"/>
                  </a:schemeClr>
                </a:solidFill>
              </a:rPr>
              <a:t>THANK YOU</a:t>
            </a:r>
          </a:p>
        </p:txBody>
      </p:sp>
      <p:pic>
        <p:nvPicPr>
          <p:cNvPr id="4" name="object 3">
            <a:extLst>
              <a:ext uri="{FF2B5EF4-FFF2-40B4-BE49-F238E27FC236}">
                <a16:creationId xmlns:a16="http://schemas.microsoft.com/office/drawing/2014/main" id="{82A927C3-140A-7ABC-91C2-249562DF33FB}"/>
              </a:ext>
            </a:extLst>
          </p:cNvPr>
          <p:cNvPicPr/>
          <p:nvPr/>
        </p:nvPicPr>
        <p:blipFill>
          <a:blip r:embed="rId2" cstate="print"/>
          <a:stretch>
            <a:fillRect/>
          </a:stretch>
        </p:blipFill>
        <p:spPr>
          <a:xfrm>
            <a:off x="290750" y="204311"/>
            <a:ext cx="1163002" cy="424338"/>
          </a:xfrm>
          <a:prstGeom prst="rect">
            <a:avLst/>
          </a:prstGeom>
        </p:spPr>
      </p:pic>
    </p:spTree>
    <p:extLst>
      <p:ext uri="{BB962C8B-B14F-4D97-AF65-F5344CB8AC3E}">
        <p14:creationId xmlns:p14="http://schemas.microsoft.com/office/powerpoint/2010/main" val="7467787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2752</TotalTime>
  <Words>1655</Words>
  <Application>Microsoft Office PowerPoint</Application>
  <PresentationFormat>Custom</PresentationFormat>
  <Paragraphs>239</Paragraphs>
  <Slides>27</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27</vt:i4>
      </vt:variant>
    </vt:vector>
  </HeadingPairs>
  <TitlesOfParts>
    <vt:vector size="34" baseType="lpstr">
      <vt:lpstr>Arial</vt:lpstr>
      <vt:lpstr>Calibri</vt:lpstr>
      <vt:lpstr>Cambria</vt:lpstr>
      <vt:lpstr>Palatino Linotype</vt:lpstr>
      <vt:lpstr>Times New Roman</vt:lpstr>
      <vt:lpstr>Wingdings</vt:lpstr>
      <vt:lpstr>Office Theme</vt:lpstr>
      <vt:lpstr>CONCLUSION</vt:lpstr>
      <vt:lpstr>CONCLUSION</vt:lpstr>
      <vt:lpstr>CONCLUSION</vt:lpstr>
      <vt:lpstr>CONCLUSION</vt:lpstr>
      <vt:lpstr>CONCLUSION</vt:lpstr>
      <vt:lpstr>CONCLUSION</vt:lpstr>
      <vt:lpstr>CONCLUSION</vt:lpstr>
      <vt:lpstr>CONCLUSION</vt:lpstr>
      <vt:lpstr>CONCLUSION</vt:lpstr>
      <vt:lpstr>CONCLUSION</vt:lpstr>
      <vt:lpstr>Data Analysis Essentials Cornerstone Project First Review</vt:lpstr>
      <vt:lpstr>PowerPoint Presentation</vt:lpstr>
      <vt:lpstr>ABSTRACT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METHODOLOGY</vt:lpstr>
      <vt:lpstr>METHODOLOGY</vt:lpstr>
      <vt:lpstr>METHODOLOGY</vt:lpstr>
      <vt:lpstr>PowerPoint Presentation</vt:lpstr>
      <vt:lpstr>EXPECTED OUTPUTS</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Zeroth Review</dc:title>
  <dc:creator>RESHMA BASAPATHI</dc:creator>
  <cp:lastModifiedBy>Bobby Bolisetti</cp:lastModifiedBy>
  <cp:revision>48</cp:revision>
  <cp:lastPrinted>2025-10-14T18:21:49Z</cp:lastPrinted>
  <dcterms:created xsi:type="dcterms:W3CDTF">2025-10-10T08:28:06Z</dcterms:created>
  <dcterms:modified xsi:type="dcterms:W3CDTF">2026-10-29T13:01:22Z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2025-09-12T00:00:00Z</vt:filetime>
  </property>
  <property fmtid="{D5CDD505-2E9C-101B-9397-08002B2CF9AE}" pid="3" name="LastSaved">
    <vt:filetime>2025-10-10T00:00:00Z</vt:filetime>
  </property>
</Properties>
</file>